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332" r:id="rId3"/>
    <p:sldId id="342" r:id="rId4"/>
    <p:sldId id="330" r:id="rId5"/>
    <p:sldId id="345" r:id="rId6"/>
    <p:sldId id="344" r:id="rId7"/>
    <p:sldId id="346" r:id="rId8"/>
    <p:sldId id="343" r:id="rId9"/>
    <p:sldId id="347" r:id="rId10"/>
    <p:sldId id="349" r:id="rId11"/>
    <p:sldId id="348" r:id="rId12"/>
    <p:sldId id="341" r:id="rId13"/>
    <p:sldId id="350" r:id="rId14"/>
    <p:sldId id="273" r:id="rId15"/>
    <p:sldId id="351" r:id="rId16"/>
    <p:sldId id="34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D8E8F-7593-4399-BFF4-C7D93E8EC663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494A6D-D996-40EF-BDD6-CCE42B17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8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59F0-0861-2B48-5907-7C92CB507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45B55-3FB4-F7AB-3883-61AD8700A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DB4FF-4E0E-9525-B6F6-077576EE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D2452-9518-611D-1205-3CFC01BB6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41477-3B80-E093-1C57-1A945AC86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03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C926-9A76-F82F-E52D-205A1F59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2E75D-5919-DCF9-D35E-B33703B31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FCD64-5530-C42A-52CA-788547E0E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9AB1B-009E-BCBF-2E69-EFABC3C8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6D896-9326-9FC6-1A37-B22E0BB3B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65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11B2-FDD7-8D3E-1F73-72DD0006B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C7C94-DCAA-5C8E-E1D7-AEB0F50EA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C8643-4CB2-4860-C618-C9D71531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C0F21-066D-DDF4-5419-E2680ED6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E2AF4-E45B-7010-46B6-2F13C9BF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5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C055-84AC-C341-60DB-1ABACB47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87F73-B1FB-5429-989A-E43E2C810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F2916-004C-AD79-85B2-B9CECB205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24F93-E641-A395-22CD-CC34427D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BAB49-12E7-AE2E-3511-9BB69752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69120-8156-9693-782D-567582A2A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59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8133-6E39-691A-2BB1-25482B4AE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785E0-D1E8-8078-39C0-01008BFA5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7EF59-FB06-342C-72F8-29F10705B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71192-B73B-A684-A942-B6838F85B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39F15-6003-F1E9-CB12-69F7BC6FB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7F0DF-2A59-1809-414B-AB98CE6A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DE6DA5-4B1F-EB0B-1F5A-9E97ED56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FD31CE-738C-C6A3-F979-1984B9CFB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59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963AA-2578-D57F-2337-97DAAE42D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E2768-A377-EBA8-C2D2-AFDE2C78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DDE6D-7F8F-5251-3F06-386D893D3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95028-C83F-AA87-F5F5-30BE0E7B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1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24882-E289-35F0-890A-FA660960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D76FE-2E3A-DCE9-3D3B-A8D164C1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055BB-912C-6C0B-E280-A3BEAD1C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96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3FFF-6E0B-D625-BC26-1309AE53D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9D641-603B-2BEE-7E89-3F092A8E2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97CAB-7AE5-D289-523C-30A4959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C365E-E5CD-46C6-4393-6EA628EBD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DBC79-4716-06F1-38D2-628D6F14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16F0D-DE3D-A9FA-B2F6-1A297202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3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D751-E1CA-E4FA-BA42-774DD2250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37CA6-6AC6-8379-CC69-2F183E69F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9DC0B-CC30-D5EE-D459-74047BD5F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1EB06-03B2-E6D0-A02E-CC25B0FC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0F949-D1D3-7058-45AD-1CE1023A4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5E3C7-22FE-7BAC-D6B3-BA913EEE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9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C08CF-EB67-0F1E-77DD-891AC0A2E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51D78-2100-8B20-0A85-46A837D6C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57231-E126-FA54-EDED-96FF21F8C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B7932-9E7C-126F-951A-4D6C559D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C80E9-008D-31E3-3762-478CEF5F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12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DDA51-8A24-316D-1E69-B87D7D7FB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9B158-ECA4-E3C2-5FCE-7DE6C40F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02B1B-6A9C-B95A-4EE4-74423F177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97296-C10D-224B-6E77-155DF96F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69515-F74B-FAAC-D360-0C2BE421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22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F70F-C36D-483B-A71E-3CE7D1294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BBED8-1641-49D3-AE18-73C243B3C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D893F-194C-4FF4-B5AB-6C4451672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4AA48-D71C-4646-9955-7BE750BBC8EB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4E4B-E2F8-432A-BF65-4B1D4F6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TEAS WG Session @ IETF 1119, Brisbane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57B7B-E4FA-4168-B890-885510F8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041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BE4D-E613-43DD-A6B2-85D234F12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8EDF5-8775-4D37-8BA6-6B05CD86F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DD1F9-0CC1-46BD-80EA-032EFE2EA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9782-2058-44F2-8ABC-322BECBB0E7F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48F2B-FBF0-4DD3-BC64-6E8C5B410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TEAS WG Session @ IETF 1119, Brisbane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4DDCE-377F-490B-9F66-2FCFAE7C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98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EAE-26F7-4F91-BCE2-D07C906B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8774-D4D5-43AF-87A1-D8665498F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2657-B26C-473C-88A7-772FA2CDB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B683-35D5-48E4-8D8D-FAC1AECA2063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0D81-1E0A-47CD-92A4-5E1171C6A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TEAS WG Session @ IETF 1119, Brisbane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F3D07-BB30-4067-94E3-33D2DE36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1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B1312-A27D-43A7-9134-1372A391F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64446-AD39-4608-9403-BC5FBE4DE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B136-4A35-4C88-9E2B-DC562E5F0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5133C-C0C8-462E-9E8D-367F44F3E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7688E-F31F-4CF5-B758-A5577083F25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A0FC7-850E-4FE6-9D6F-05155ECA1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TEAS WG Session @ IETF 1119, Brisbane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FE713-1D7D-4705-BF14-3DF62652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33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84AB-3862-4C30-AAB5-B8B8BDC49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846EF-F83F-4684-B45D-F7A2ECE84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051F9-60E0-4E64-B66C-DC817F931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60DFF-87BC-43C4-8119-530EC412C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B5A7F-DE6C-4E81-9CBC-8D5EF03BB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1FC2D-06AA-4DB6-90EF-3D874477E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9F3D-A209-4627-8393-095203F25DC9}" type="datetime1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860ED0-7AF3-47B5-AFD9-0B219ADEE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TEAS WG Session @ IETF 1119, Brisbane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BC4CC-408F-4ECE-B7DD-D7C11477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89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2245-E251-4030-8C6B-27B27481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349A23-CC8C-400E-BF73-1FE15B3F6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EC0FD-EF9F-40F8-9DD5-A26FF1024BC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0AB06-AE52-4E29-BFE8-EB8CAA06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TEAS WG Session @ IETF 1119, Brisbane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F4D89-3784-4036-9A00-E28A74AA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64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777CF1-7199-4CFF-B5A5-7410597E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42D9-F051-40B2-9C21-2B74761BC374}" type="datetime1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B3890-1DEE-4B5F-91FA-904D4ECBA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TEAS WG Session @ IETF 1119, Brisbane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77738-57AE-490B-AA3B-850D1513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63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BC349-53F3-4740-93C6-6E31DFF99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7B1AB-D28C-44E0-A470-D76859C3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73F70-471F-4F95-85E6-12BA8F2C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30FA-9E80-4190-80C6-10B1DB5F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F0547-5CF7-41E7-AD49-6CD6B827F592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DBA77-A567-4E0B-B956-C5E5AA192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TEAS WG Session @ IETF 1119, Brisbane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78477-7046-43DB-A2BD-7B40CDA07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374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29A2-7198-4C85-9684-7AB7E5B5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BDA2B8-1988-4398-9533-242CB40CD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CD29D-523A-464C-964D-498C96C81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8AB2A-5EA4-41E1-813D-E130F9CD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80B3-D0E7-4ED1-860C-6A06054C2A2D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FE246-9575-4020-8AC5-AA6979EC3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TEAS WG Session @ IETF 1119, Brisbane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D70EF-222D-482A-9962-A3E75824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50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1744E-C5CC-433D-BC59-08747CC0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6A685-8D45-4AE8-A436-80CEC3CB9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04DA6-02C2-4232-AA35-6C6326775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F37A8-9097-4E8C-8C78-4A474278444F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D90AE-1FCA-4D19-A901-53A6D429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TEAS WG Session @ IETF 1119, Brisbane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F0AA5-D7F4-4DDE-AE62-D39D808E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7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D45A1-B848-4F0A-A111-0471ADDF5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6741C-A0E2-4271-95E4-9F68AD864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D4C10-76A8-4708-8997-C1FEB99B2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7D08-4F0A-42F3-8DF2-0638E7693D63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4B1F7-A30B-4632-8901-5AF69137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TEAS WG Session @ IETF 1119, Brisbane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D563F-3764-4CAA-9B40-9A10FC22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2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3A4D02-671A-1519-9288-E068B691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BB11E-D859-FA4E-B862-963C0021E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1EBC5-06EE-62F4-A3C2-829D29ADD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378AFC-00E2-431A-A2EE-69428BA4F9E6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21F18-9700-67DA-6ABF-578681549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7681B-528F-CDA5-E764-D8A020C7B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38617-62BC-4BAD-8ADE-90A7BCBD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12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A70B3-5ECB-40A8-A49F-16541EDE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850A9-87D7-4ED5-8243-D4529ACDF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1B68C-3A53-4D83-98BD-820DCB90D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44880-C359-4D40-A6BC-0459A7BBBEA9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0814F-F9BA-41A0-9BBB-B2F597BFD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TEAS WG Session @ IETF 1119, Brisbane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5CE73-9D13-44B7-94CC-97CBF98F2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E8D9F-EE5F-4C6A-B9D9-EDFB82C38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racker.ietf.org/doc/draft-ygb-ivy-passive-network-inventory/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racker.ietf.org/doc/html/draft-ietf-ivy-network-inventory-topology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racker.ietf.org/doc/html/draft-ietf-ivy-network-inventory-topology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guoietf/draft-ygb-ivy-passive-network-inventory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B14AC5-E6AF-4C76-9CB3-949ACC0FE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8859"/>
            <a:ext cx="9144000" cy="1645330"/>
          </a:xfrm>
        </p:spPr>
        <p:txBody>
          <a:bodyPr anchor="t" anchorCtr="1">
            <a:normAutofit/>
          </a:bodyPr>
          <a:lstStyle/>
          <a:p>
            <a:pPr>
              <a:spcBef>
                <a:spcPts val="0"/>
              </a:spcBef>
            </a:pPr>
            <a:r>
              <a:rPr lang="en-US" sz="4000" b="1" dirty="0"/>
              <a:t>A Status Update on YANG Data Model for Passive Network Inventory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AE12729-D209-49D9-9E7C-3590C68E9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7739" y="3311187"/>
            <a:ext cx="4238945" cy="3227725"/>
          </a:xfrm>
        </p:spPr>
        <p:txBody>
          <a:bodyPr>
            <a:noAutofit/>
          </a:bodyPr>
          <a:lstStyle/>
          <a:p>
            <a:pPr algn="l">
              <a:spcBef>
                <a:spcPts val="300"/>
              </a:spcBef>
            </a:pPr>
            <a:r>
              <a:rPr lang="en-US" sz="1900" dirty="0"/>
              <a:t>Contributors:</a:t>
            </a:r>
          </a:p>
          <a:p>
            <a:pPr algn="l">
              <a:spcBef>
                <a:spcPts val="300"/>
              </a:spcBef>
            </a:pPr>
            <a:endParaRPr lang="en-US" sz="1900" dirty="0"/>
          </a:p>
          <a:p>
            <a:pPr algn="l">
              <a:spcBef>
                <a:spcPts val="300"/>
              </a:spcBef>
            </a:pPr>
            <a:r>
              <a:rPr lang="en-US" sz="1900" dirty="0" err="1"/>
              <a:t>Chaode</a:t>
            </a:r>
            <a:r>
              <a:rPr lang="en-US" sz="1900" dirty="0"/>
              <a:t> Yu (Huawei)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Sergio </a:t>
            </a:r>
            <a:r>
              <a:rPr lang="en-US" sz="1900" dirty="0" err="1"/>
              <a:t>Belotti</a:t>
            </a:r>
            <a:r>
              <a:rPr lang="en-US" sz="1900" dirty="0"/>
              <a:t> (Nokia)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Aihua Guo (Futurewei)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Mohammad </a:t>
            </a:r>
            <a:r>
              <a:rPr lang="en-US" sz="1900" dirty="0" err="1"/>
              <a:t>Boroon</a:t>
            </a:r>
            <a:r>
              <a:rPr lang="en-US" sz="1900" dirty="0"/>
              <a:t> (Highstreet)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Italo Busi (Huawei)</a:t>
            </a:r>
          </a:p>
          <a:p>
            <a:pPr algn="l">
              <a:spcBef>
                <a:spcPts val="300"/>
              </a:spcBef>
            </a:pPr>
            <a:r>
              <a:rPr lang="en-US" sz="1900" dirty="0" err="1"/>
              <a:t>Swaminathon</a:t>
            </a:r>
            <a:r>
              <a:rPr lang="en-US" sz="1900" dirty="0"/>
              <a:t> S. (Nokia)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Nigel Davis (Ciena)</a:t>
            </a:r>
          </a:p>
          <a:p>
            <a:pPr algn="l">
              <a:spcBef>
                <a:spcPts val="300"/>
              </a:spcBef>
            </a:pPr>
            <a:endParaRPr lang="en-US" sz="19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2F80EB8-8DC8-4CA5-8090-B8E097E5008E}"/>
              </a:ext>
            </a:extLst>
          </p:cNvPr>
          <p:cNvSpPr txBox="1">
            <a:spLocks/>
          </p:cNvSpPr>
          <p:nvPr/>
        </p:nvSpPr>
        <p:spPr>
          <a:xfrm>
            <a:off x="1524000" y="2507870"/>
            <a:ext cx="9144000" cy="600076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hlinkClick r:id="rId2"/>
              </a:rPr>
              <a:t>draft-ygb-ivy-passive-network-inventory-00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1AE12729-D209-49D9-9E7C-3590C68E9DCE}"/>
              </a:ext>
            </a:extLst>
          </p:cNvPr>
          <p:cNvSpPr txBox="1">
            <a:spLocks/>
          </p:cNvSpPr>
          <p:nvPr/>
        </p:nvSpPr>
        <p:spPr>
          <a:xfrm>
            <a:off x="6096000" y="3371353"/>
            <a:ext cx="3202625" cy="1995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7536E56-208E-1F26-9156-2977D55FD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D68D9A1A-0346-E694-193D-0F9CD96A9F07}"/>
              </a:ext>
            </a:extLst>
          </p:cNvPr>
          <p:cNvSpPr txBox="1">
            <a:spLocks/>
          </p:cNvSpPr>
          <p:nvPr/>
        </p:nvSpPr>
        <p:spPr>
          <a:xfrm>
            <a:off x="6562344" y="3922776"/>
            <a:ext cx="3772601" cy="2616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sz="1900" dirty="0"/>
              <a:t>Tom Van </a:t>
            </a:r>
            <a:r>
              <a:rPr lang="en-US" sz="1900" dirty="0" err="1"/>
              <a:t>Caenegem</a:t>
            </a:r>
            <a:r>
              <a:rPr lang="en-US" sz="1900" dirty="0"/>
              <a:t> (Nokia)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Mauro </a:t>
            </a:r>
            <a:r>
              <a:rPr lang="en-US" sz="1900" dirty="0" err="1"/>
              <a:t>Tilocca</a:t>
            </a:r>
            <a:r>
              <a:rPr lang="en-US" sz="1900" dirty="0"/>
              <a:t> (</a:t>
            </a:r>
            <a:r>
              <a:rPr lang="en-US" sz="1900" dirty="0" err="1"/>
              <a:t>FiberCop</a:t>
            </a:r>
            <a:r>
              <a:rPr lang="en-US" sz="1900" dirty="0"/>
              <a:t>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Brad Peters (NBN)</a:t>
            </a:r>
          </a:p>
          <a:p>
            <a:pPr algn="l">
              <a:spcBef>
                <a:spcPts val="300"/>
              </a:spcBef>
            </a:pPr>
            <a:r>
              <a:rPr lang="en-US" sz="1900" dirty="0" err="1"/>
              <a:t>Swamynathan</a:t>
            </a:r>
            <a:r>
              <a:rPr lang="en-US" sz="1900" dirty="0"/>
              <a:t> B. (Nokia)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Bin Yeong Yoon (ETRI)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Yang Zhao (China Mobile)</a:t>
            </a:r>
          </a:p>
          <a:p>
            <a:pPr algn="l">
              <a:spcBef>
                <a:spcPts val="300"/>
              </a:spcBef>
            </a:pPr>
            <a:r>
              <a:rPr lang="en-US" sz="1900" dirty="0" err="1"/>
              <a:t>Yucong</a:t>
            </a:r>
            <a:r>
              <a:rPr lang="en-US" sz="1900" dirty="0"/>
              <a:t> Liu (China Mobile)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7DC01827-5B6D-85BA-F9E3-725FDC8F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</p:spTree>
    <p:extLst>
      <p:ext uri="{BB962C8B-B14F-4D97-AF65-F5344CB8AC3E}">
        <p14:creationId xmlns:p14="http://schemas.microsoft.com/office/powerpoint/2010/main" val="423173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BD2B-F1CE-6EA0-6E14-CF91C96A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5BF5-945F-B1EF-934E-B5827173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Updates Since IETF-121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04FF2-294E-E9E4-379C-096D1C66B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904"/>
            <a:ext cx="10515600" cy="465905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Inventory management for passive infrastructure is of good interest by operators and the OSS/BSS system. The objective of this draft is to develop a common model to support a variety of network scenarios</a:t>
            </a:r>
          </a:p>
          <a:p>
            <a:pPr lvl="1"/>
            <a:r>
              <a:rPr lang="en-US" dirty="0"/>
              <a:t>Used at the NBI of a domain controller for exposing and retrieving passive inventory</a:t>
            </a:r>
          </a:p>
          <a:p>
            <a:pPr lvl="1"/>
            <a:r>
              <a:rPr lang="en-US" dirty="0"/>
              <a:t>The method of discovering passive inventory is out of scope</a:t>
            </a:r>
          </a:p>
          <a:p>
            <a:endParaRPr lang="en-US" dirty="0"/>
          </a:p>
          <a:p>
            <a:r>
              <a:rPr lang="en-US" dirty="0"/>
              <a:t>Held weekly discussions to align the objective and terminology for passive inventory</a:t>
            </a:r>
          </a:p>
          <a:p>
            <a:endParaRPr lang="en-US" dirty="0"/>
          </a:p>
          <a:p>
            <a:r>
              <a:rPr lang="en-US" dirty="0"/>
              <a:t>Welcomed many contributors from diverse technology background</a:t>
            </a:r>
          </a:p>
          <a:p>
            <a:pPr lvl="1"/>
            <a:r>
              <a:rPr lang="en-US" dirty="0"/>
              <a:t>Received significant input from BBF on access network modeling, which has heavy management on the ODN (optical distribution network) passive infrastructure for FTTH/FTTR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E0259-DBC1-910E-7AC5-7D5D93DE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4DA81980-FDB1-95C7-91F8-49C636B14B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79395F-B7C5-BB8B-D645-23ED7B46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</p:spTree>
    <p:extLst>
      <p:ext uri="{BB962C8B-B14F-4D97-AF65-F5344CB8AC3E}">
        <p14:creationId xmlns:p14="http://schemas.microsoft.com/office/powerpoint/2010/main" val="620269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3B88-3ADF-21E2-1BF7-F2D5DB20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Passive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B0069-5D53-E95C-16E2-4A6FDE073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888"/>
            <a:ext cx="10515600" cy="4787075"/>
          </a:xfrm>
        </p:spPr>
        <p:txBody>
          <a:bodyPr>
            <a:normAutofit/>
          </a:bodyPr>
          <a:lstStyle/>
          <a:p>
            <a:r>
              <a:rPr lang="en-US" dirty="0"/>
              <a:t>Various types of passive network infrastructure were reviewed for</a:t>
            </a:r>
          </a:p>
          <a:p>
            <a:pPr lvl="1"/>
            <a:r>
              <a:rPr lang="en-US" dirty="0"/>
              <a:t>Optical access</a:t>
            </a:r>
          </a:p>
          <a:p>
            <a:pPr lvl="1"/>
            <a:r>
              <a:rPr lang="en-US" dirty="0"/>
              <a:t>OTN/DWDM transport (IP/packet use cases TBD)</a:t>
            </a:r>
          </a:p>
          <a:p>
            <a:pPr lvl="1"/>
            <a:r>
              <a:rPr lang="en-US" dirty="0"/>
              <a:t>Microwave transport</a:t>
            </a:r>
          </a:p>
          <a:p>
            <a:r>
              <a:rPr lang="en-US" dirty="0"/>
              <a:t>Agreed that the model should cover the above network scenarios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94844-A7E7-61BB-C144-2D0203970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D25AD-ACC6-274C-1E13-C8A9842A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FEA24DE-6182-03D2-DC55-725DA14641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</p:spTree>
    <p:extLst>
      <p:ext uri="{BB962C8B-B14F-4D97-AF65-F5344CB8AC3E}">
        <p14:creationId xmlns:p14="http://schemas.microsoft.com/office/powerpoint/2010/main" val="898076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63334-C398-85E2-1242-059C2DE1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0C50-EE7F-0FEA-BFB3-8A61603F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Passive Infrastructure - Access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505C-78CA-903B-37F0-5C0C0D1C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3491A5A8-556F-B7D0-CF88-BA0A3E23C6F3}"/>
              </a:ext>
            </a:extLst>
          </p:cNvPr>
          <p:cNvGrpSpPr/>
          <p:nvPr/>
        </p:nvGrpSpPr>
        <p:grpSpPr>
          <a:xfrm>
            <a:off x="255148" y="1279361"/>
            <a:ext cx="11849765" cy="4719099"/>
            <a:chOff x="255148" y="1279361"/>
            <a:chExt cx="11849765" cy="4719099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AEE19A7-650F-A4BF-8383-141B3DDAD92F}"/>
                </a:ext>
              </a:extLst>
            </p:cNvPr>
            <p:cNvCxnSpPr>
              <a:cxnSpLocks/>
            </p:cNvCxnSpPr>
            <p:nvPr/>
          </p:nvCxnSpPr>
          <p:spPr>
            <a:xfrm>
              <a:off x="9161978" y="2408817"/>
              <a:ext cx="66201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3266FA1-68D5-7FC2-07C9-5A3687D6A5E8}"/>
                </a:ext>
              </a:extLst>
            </p:cNvPr>
            <p:cNvSpPr/>
            <p:nvPr/>
          </p:nvSpPr>
          <p:spPr>
            <a:xfrm>
              <a:off x="2021896" y="2874815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ODF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6560D5B-DF71-5AD4-723E-9BE0D3D8F4AC}"/>
                </a:ext>
              </a:extLst>
            </p:cNvPr>
            <p:cNvCxnSpPr>
              <a:cxnSpLocks/>
            </p:cNvCxnSpPr>
            <p:nvPr/>
          </p:nvCxnSpPr>
          <p:spPr>
            <a:xfrm>
              <a:off x="2811076" y="3492216"/>
              <a:ext cx="25163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ACB26B4-87A7-836F-C3E3-24ABB75D2D6E}"/>
                </a:ext>
              </a:extLst>
            </p:cNvPr>
            <p:cNvSpPr txBox="1"/>
            <p:nvPr/>
          </p:nvSpPr>
          <p:spPr>
            <a:xfrm>
              <a:off x="1525591" y="2455143"/>
              <a:ext cx="9653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 </a:t>
              </a:r>
            </a:p>
            <a:p>
              <a:pPr algn="ctr"/>
              <a:r>
                <a:rPr lang="en-US" sz="1200" dirty="0"/>
                <a:t>(single fiber)</a:t>
              </a:r>
            </a:p>
          </p:txBody>
        </p:sp>
        <p:sp>
          <p:nvSpPr>
            <p:cNvPr id="123" name="Trapezoid 122">
              <a:extLst>
                <a:ext uri="{FF2B5EF4-FFF2-40B4-BE49-F238E27FC236}">
                  <a16:creationId xmlns:a16="http://schemas.microsoft.com/office/drawing/2014/main" id="{B076CA68-EDE2-B410-30B7-71349F215C11}"/>
                </a:ext>
              </a:extLst>
            </p:cNvPr>
            <p:cNvSpPr/>
            <p:nvPr/>
          </p:nvSpPr>
          <p:spPr>
            <a:xfrm rot="5400000">
              <a:off x="632205" y="2558903"/>
              <a:ext cx="717149" cy="277907"/>
            </a:xfrm>
            <a:prstGeom prst="trapezoid">
              <a:avLst>
                <a:gd name="adj" fmla="val 40261"/>
              </a:avLst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WDM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AD2CA12-6639-C4AD-2B21-7B03DDC3391A}"/>
                </a:ext>
              </a:extLst>
            </p:cNvPr>
            <p:cNvSpPr/>
            <p:nvPr/>
          </p:nvSpPr>
          <p:spPr>
            <a:xfrm>
              <a:off x="672877" y="2090846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NE-1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4880226-9CE8-D9BB-1DC9-D0D6513EED25}"/>
                </a:ext>
              </a:extLst>
            </p:cNvPr>
            <p:cNvSpPr/>
            <p:nvPr/>
          </p:nvSpPr>
          <p:spPr>
            <a:xfrm>
              <a:off x="1922074" y="3091464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6A5FE9B-9137-3095-2F15-A6EB590F19E2}"/>
                </a:ext>
              </a:extLst>
            </p:cNvPr>
            <p:cNvSpPr/>
            <p:nvPr/>
          </p:nvSpPr>
          <p:spPr>
            <a:xfrm>
              <a:off x="1911365" y="3795876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27" name="Trapezoid 126">
              <a:extLst>
                <a:ext uri="{FF2B5EF4-FFF2-40B4-BE49-F238E27FC236}">
                  <a16:creationId xmlns:a16="http://schemas.microsoft.com/office/drawing/2014/main" id="{9820C0B8-F0E6-09FB-C9CF-0481A023F822}"/>
                </a:ext>
              </a:extLst>
            </p:cNvPr>
            <p:cNvSpPr/>
            <p:nvPr/>
          </p:nvSpPr>
          <p:spPr>
            <a:xfrm rot="5400000">
              <a:off x="632205" y="4490732"/>
              <a:ext cx="717149" cy="277907"/>
            </a:xfrm>
            <a:prstGeom prst="trapezoid">
              <a:avLst>
                <a:gd name="adj" fmla="val 40261"/>
              </a:avLst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WDM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39DDAA5-7830-A2F9-F2E3-327308F8814A}"/>
                </a:ext>
              </a:extLst>
            </p:cNvPr>
            <p:cNvSpPr/>
            <p:nvPr/>
          </p:nvSpPr>
          <p:spPr>
            <a:xfrm>
              <a:off x="672877" y="4022675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NE-2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323F38D-112B-117C-4C02-6A1C694E8B20}"/>
                </a:ext>
              </a:extLst>
            </p:cNvPr>
            <p:cNvSpPr/>
            <p:nvPr/>
          </p:nvSpPr>
          <p:spPr>
            <a:xfrm>
              <a:off x="1161757" y="4443059"/>
              <a:ext cx="395861" cy="34065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A2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5E846B3-0337-8DD8-7597-CF2E49FA8E92}"/>
                </a:ext>
              </a:extLst>
            </p:cNvPr>
            <p:cNvSpPr/>
            <p:nvPr/>
          </p:nvSpPr>
          <p:spPr>
            <a:xfrm>
              <a:off x="440193" y="1768116"/>
              <a:ext cx="2610750" cy="423034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CO</a:t>
              </a:r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1BB63754-405A-94F8-2880-CECD8E13B23B}"/>
                </a:ext>
              </a:extLst>
            </p:cNvPr>
            <p:cNvCxnSpPr>
              <a:cxnSpLocks/>
              <a:stCxn id="129" idx="3"/>
              <a:endCxn id="126" idx="1"/>
            </p:cNvCxnSpPr>
            <p:nvPr/>
          </p:nvCxnSpPr>
          <p:spPr>
            <a:xfrm flipV="1">
              <a:off x="1557618" y="3932244"/>
              <a:ext cx="353747" cy="6811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95757DD-46D7-ACB3-913A-5B08D58CD7CC}"/>
                </a:ext>
              </a:extLst>
            </p:cNvPr>
            <p:cNvCxnSpPr>
              <a:cxnSpLocks/>
              <a:stCxn id="219" idx="3"/>
              <a:endCxn id="125" idx="1"/>
            </p:cNvCxnSpPr>
            <p:nvPr/>
          </p:nvCxnSpPr>
          <p:spPr>
            <a:xfrm>
              <a:off x="1553492" y="2700382"/>
              <a:ext cx="368582" cy="5274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A3AB5CB1-AAA3-B082-70D5-C5588531ADA2}"/>
                </a:ext>
              </a:extLst>
            </p:cNvPr>
            <p:cNvSpPr/>
            <p:nvPr/>
          </p:nvSpPr>
          <p:spPr>
            <a:xfrm>
              <a:off x="2564444" y="3445145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01DA7CF-2E89-4B69-3FD2-9B8A6250E83F}"/>
                </a:ext>
              </a:extLst>
            </p:cNvPr>
            <p:cNvSpPr txBox="1"/>
            <p:nvPr/>
          </p:nvSpPr>
          <p:spPr>
            <a:xfrm>
              <a:off x="2256938" y="3407464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pic>
          <p:nvPicPr>
            <p:cNvPr id="135" name="Picture 30" descr="图片155">
              <a:extLst>
                <a:ext uri="{FF2B5EF4-FFF2-40B4-BE49-F238E27FC236}">
                  <a16:creationId xmlns:a16="http://schemas.microsoft.com/office/drawing/2014/main" id="{60D836BE-4E4F-7CAE-062D-A0FD50ABC2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662687" y="3319709"/>
              <a:ext cx="378167" cy="3768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B050FC81-BED0-3326-4654-7D78844A1125}"/>
                </a:ext>
              </a:extLst>
            </p:cNvPr>
            <p:cNvCxnSpPr>
              <a:cxnSpLocks/>
            </p:cNvCxnSpPr>
            <p:nvPr/>
          </p:nvCxnSpPr>
          <p:spPr>
            <a:xfrm>
              <a:off x="2811076" y="3541567"/>
              <a:ext cx="25163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96A85054-748E-F7DC-3DCA-AE1AEF50286F}"/>
                </a:ext>
              </a:extLst>
            </p:cNvPr>
            <p:cNvCxnSpPr>
              <a:cxnSpLocks/>
            </p:cNvCxnSpPr>
            <p:nvPr/>
          </p:nvCxnSpPr>
          <p:spPr>
            <a:xfrm>
              <a:off x="2811076" y="3592130"/>
              <a:ext cx="25163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9ABA7899-412C-545B-7AB6-7438B20E1CC2}"/>
                </a:ext>
              </a:extLst>
            </p:cNvPr>
            <p:cNvSpPr txBox="1"/>
            <p:nvPr/>
          </p:nvSpPr>
          <p:spPr>
            <a:xfrm>
              <a:off x="866182" y="3612863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FD7FB45-E31A-B05D-4136-E1F7A06F6944}"/>
                </a:ext>
              </a:extLst>
            </p:cNvPr>
            <p:cNvSpPr txBox="1"/>
            <p:nvPr/>
          </p:nvSpPr>
          <p:spPr>
            <a:xfrm>
              <a:off x="1860805" y="33271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484634B-01B1-4724-E8C7-C256637604FB}"/>
                </a:ext>
              </a:extLst>
            </p:cNvPr>
            <p:cNvCxnSpPr>
              <a:cxnSpLocks/>
            </p:cNvCxnSpPr>
            <p:nvPr/>
          </p:nvCxnSpPr>
          <p:spPr>
            <a:xfrm>
              <a:off x="2811076" y="3646290"/>
              <a:ext cx="25163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流程图: 直接访问存储器 220">
              <a:extLst>
                <a:ext uri="{FF2B5EF4-FFF2-40B4-BE49-F238E27FC236}">
                  <a16:creationId xmlns:a16="http://schemas.microsoft.com/office/drawing/2014/main" id="{FE612CA0-2DA4-5B1C-ED86-D16BA6E49F39}"/>
                </a:ext>
              </a:extLst>
            </p:cNvPr>
            <p:cNvSpPr/>
            <p:nvPr/>
          </p:nvSpPr>
          <p:spPr>
            <a:xfrm>
              <a:off x="3503777" y="3361166"/>
              <a:ext cx="284401" cy="408404"/>
            </a:xfrm>
            <a:prstGeom prst="flowChartMagneticDrum">
              <a:avLst/>
            </a:prstGeom>
            <a:solidFill>
              <a:srgbClr val="00B0F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2" name="流程图: 直接访问存储器 220">
              <a:extLst>
                <a:ext uri="{FF2B5EF4-FFF2-40B4-BE49-F238E27FC236}">
                  <a16:creationId xmlns:a16="http://schemas.microsoft.com/office/drawing/2014/main" id="{0C0BF471-047D-9E9E-289F-D4F5E9656FAF}"/>
                </a:ext>
              </a:extLst>
            </p:cNvPr>
            <p:cNvSpPr/>
            <p:nvPr/>
          </p:nvSpPr>
          <p:spPr>
            <a:xfrm>
              <a:off x="4472969" y="3373989"/>
              <a:ext cx="284401" cy="408404"/>
            </a:xfrm>
            <a:prstGeom prst="flowChartMagneticDrum">
              <a:avLst/>
            </a:prstGeom>
            <a:solidFill>
              <a:srgbClr val="00B0F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3" name="流程图: 直接访问存储器 218">
              <a:extLst>
                <a:ext uri="{FF2B5EF4-FFF2-40B4-BE49-F238E27FC236}">
                  <a16:creationId xmlns:a16="http://schemas.microsoft.com/office/drawing/2014/main" id="{6F11DEE1-D879-D14D-EC62-E3CF85C63693}"/>
                </a:ext>
              </a:extLst>
            </p:cNvPr>
            <p:cNvSpPr/>
            <p:nvPr/>
          </p:nvSpPr>
          <p:spPr>
            <a:xfrm>
              <a:off x="2749913" y="3421868"/>
              <a:ext cx="794028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4" name="流程图: 直接访问存储器 218">
              <a:extLst>
                <a:ext uri="{FF2B5EF4-FFF2-40B4-BE49-F238E27FC236}">
                  <a16:creationId xmlns:a16="http://schemas.microsoft.com/office/drawing/2014/main" id="{BA45066D-C337-1DA6-DD08-91303A886AE1}"/>
                </a:ext>
              </a:extLst>
            </p:cNvPr>
            <p:cNvSpPr/>
            <p:nvPr/>
          </p:nvSpPr>
          <p:spPr>
            <a:xfrm>
              <a:off x="3715152" y="3417361"/>
              <a:ext cx="779316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5" name="流程图: 直接访问存储器 218">
              <a:extLst>
                <a:ext uri="{FF2B5EF4-FFF2-40B4-BE49-F238E27FC236}">
                  <a16:creationId xmlns:a16="http://schemas.microsoft.com/office/drawing/2014/main" id="{DAE961FF-7CAA-DB6A-1DE8-2867D44A8221}"/>
                </a:ext>
              </a:extLst>
            </p:cNvPr>
            <p:cNvSpPr/>
            <p:nvPr/>
          </p:nvSpPr>
          <p:spPr>
            <a:xfrm>
              <a:off x="4703877" y="3452297"/>
              <a:ext cx="666564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D4DBF5F-7339-F830-E1CB-A853148C9FD1}"/>
                </a:ext>
              </a:extLst>
            </p:cNvPr>
            <p:cNvSpPr/>
            <p:nvPr/>
          </p:nvSpPr>
          <p:spPr>
            <a:xfrm>
              <a:off x="5415834" y="2745428"/>
              <a:ext cx="680975" cy="19282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FDT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48C04D86-87F4-9A8A-C497-23DC5352519D}"/>
                </a:ext>
              </a:extLst>
            </p:cNvPr>
            <p:cNvSpPr/>
            <p:nvPr/>
          </p:nvSpPr>
          <p:spPr>
            <a:xfrm>
              <a:off x="5377704" y="3460859"/>
              <a:ext cx="259548" cy="26514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pic>
          <p:nvPicPr>
            <p:cNvPr id="148" name="Picture 30" descr="图片155">
              <a:extLst>
                <a:ext uri="{FF2B5EF4-FFF2-40B4-BE49-F238E27FC236}">
                  <a16:creationId xmlns:a16="http://schemas.microsoft.com/office/drawing/2014/main" id="{F91D4330-B8F5-88B2-413B-1B6433F129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093160" y="2249274"/>
              <a:ext cx="506711" cy="504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CFBBD784-6FBD-E06B-BD5E-C3FB9F64232B}"/>
                </a:ext>
              </a:extLst>
            </p:cNvPr>
            <p:cNvSpPr/>
            <p:nvPr/>
          </p:nvSpPr>
          <p:spPr>
            <a:xfrm>
              <a:off x="6971700" y="1749323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FDT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AC6CF52-24AD-F458-EDAA-20281A3A4FB7}"/>
                </a:ext>
              </a:extLst>
            </p:cNvPr>
            <p:cNvSpPr/>
            <p:nvPr/>
          </p:nvSpPr>
          <p:spPr>
            <a:xfrm>
              <a:off x="6828150" y="2310115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691A5094-9A36-0D11-76B8-B7FB1625D1D6}"/>
                </a:ext>
              </a:extLst>
            </p:cNvPr>
            <p:cNvSpPr/>
            <p:nvPr/>
          </p:nvSpPr>
          <p:spPr>
            <a:xfrm>
              <a:off x="6011783" y="3199952"/>
              <a:ext cx="171000" cy="14648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52" name="流程图: 直接访问存储器 218">
              <a:extLst>
                <a:ext uri="{FF2B5EF4-FFF2-40B4-BE49-F238E27FC236}">
                  <a16:creationId xmlns:a16="http://schemas.microsoft.com/office/drawing/2014/main" id="{12B63094-034F-DC1A-0C92-8F8CCC4375D3}"/>
                </a:ext>
              </a:extLst>
            </p:cNvPr>
            <p:cNvSpPr/>
            <p:nvPr/>
          </p:nvSpPr>
          <p:spPr>
            <a:xfrm rot="18192397">
              <a:off x="6131131" y="2674703"/>
              <a:ext cx="841180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67B2905-DAF7-CDCB-ED95-A7404623A073}"/>
                </a:ext>
              </a:extLst>
            </p:cNvPr>
            <p:cNvCxnSpPr>
              <a:cxnSpLocks/>
              <a:stCxn id="151" idx="3"/>
              <a:endCxn id="150" idx="1"/>
            </p:cNvCxnSpPr>
            <p:nvPr/>
          </p:nvCxnSpPr>
          <p:spPr>
            <a:xfrm flipV="1">
              <a:off x="6182783" y="2446483"/>
              <a:ext cx="645367" cy="82671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3CF14CF5-956B-A1FF-CFCF-B6C46D34F558}"/>
                </a:ext>
              </a:extLst>
            </p:cNvPr>
            <p:cNvSpPr/>
            <p:nvPr/>
          </p:nvSpPr>
          <p:spPr>
            <a:xfrm>
              <a:off x="8445899" y="1749323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FAT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8C6C86E-ACD2-A88B-AD1F-ACEA510C244D}"/>
                </a:ext>
              </a:extLst>
            </p:cNvPr>
            <p:cNvSpPr/>
            <p:nvPr/>
          </p:nvSpPr>
          <p:spPr>
            <a:xfrm>
              <a:off x="8302349" y="2264395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pic>
          <p:nvPicPr>
            <p:cNvPr id="156" name="图片 155">
              <a:extLst>
                <a:ext uri="{FF2B5EF4-FFF2-40B4-BE49-F238E27FC236}">
                  <a16:creationId xmlns:a16="http://schemas.microsoft.com/office/drawing/2014/main" id="{A867ACD1-0BD5-DE91-D8AB-32C61CBB4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89449" y="2195287"/>
              <a:ext cx="447122" cy="467446"/>
            </a:xfrm>
            <a:prstGeom prst="rect">
              <a:avLst/>
            </a:prstGeom>
          </p:spPr>
        </p:pic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8777E90F-6267-5788-4F4B-CA3BDECE080A}"/>
                </a:ext>
              </a:extLst>
            </p:cNvPr>
            <p:cNvCxnSpPr>
              <a:cxnSpLocks/>
              <a:endCxn id="155" idx="1"/>
            </p:cNvCxnSpPr>
            <p:nvPr/>
          </p:nvCxnSpPr>
          <p:spPr>
            <a:xfrm>
              <a:off x="7640339" y="2400763"/>
              <a:ext cx="66201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AD8C2AD-8815-2C24-F122-CA16787EE9DF}"/>
                </a:ext>
              </a:extLst>
            </p:cNvPr>
            <p:cNvSpPr txBox="1"/>
            <p:nvPr/>
          </p:nvSpPr>
          <p:spPr>
            <a:xfrm>
              <a:off x="255148" y="5508446"/>
              <a:ext cx="14904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(OLT)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CC980D3C-3FA5-97CF-9D99-365F4B86CDFB}"/>
                </a:ext>
              </a:extLst>
            </p:cNvPr>
            <p:cNvSpPr/>
            <p:nvPr/>
          </p:nvSpPr>
          <p:spPr>
            <a:xfrm>
              <a:off x="9908032" y="1742802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ATB</a:t>
              </a:r>
            </a:p>
          </p:txBody>
        </p:sp>
        <p:pic>
          <p:nvPicPr>
            <p:cNvPr id="160" name="图片 132">
              <a:extLst>
                <a:ext uri="{FF2B5EF4-FFF2-40B4-BE49-F238E27FC236}">
                  <a16:creationId xmlns:a16="http://schemas.microsoft.com/office/drawing/2014/main" id="{2C687E45-08B6-3EDF-004C-99BDF3A9A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64954" y="2125024"/>
              <a:ext cx="404341" cy="421921"/>
            </a:xfrm>
            <a:prstGeom prst="rect">
              <a:avLst/>
            </a:prstGeom>
          </p:spPr>
        </p:pic>
        <p:pic>
          <p:nvPicPr>
            <p:cNvPr id="161" name="Picture 26" descr="图片205">
              <a:extLst>
                <a:ext uri="{FF2B5EF4-FFF2-40B4-BE49-F238E27FC236}">
                  <a16:creationId xmlns:a16="http://schemas.microsoft.com/office/drawing/2014/main" id="{2DF5CC90-F656-02E3-C1AE-71C8607F15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094754" y="1874127"/>
              <a:ext cx="378873" cy="1864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2" name="Text Box 33">
              <a:extLst>
                <a:ext uri="{FF2B5EF4-FFF2-40B4-BE49-F238E27FC236}">
                  <a16:creationId xmlns:a16="http://schemas.microsoft.com/office/drawing/2014/main" id="{FA2B8A58-0DB3-4B20-6820-A8D12FE4F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93147" y="1813357"/>
              <a:ext cx="385792" cy="2761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17993" tIns="45678" rIns="17993" bIns="45678">
              <a:spAutoFit/>
            </a:bodyPr>
            <a:lstStyle/>
            <a:p>
              <a:pPr algn="ctr" defTabSz="1064787">
                <a:lnSpc>
                  <a:spcPct val="130000"/>
                </a:lnSpc>
                <a:spcBef>
                  <a:spcPct val="50000"/>
                </a:spcBef>
                <a:buClr>
                  <a:srgbClr val="990000"/>
                </a:buClr>
                <a:buSzPct val="60000"/>
              </a:pPr>
              <a:r>
                <a:rPr lang="en-US" altLang="zh-CN" sz="1000" b="1" dirty="0">
                  <a:solidFill>
                    <a:srgbClr val="000000"/>
                  </a:solidFill>
                  <a:latin typeface="Calibri" panose="020F0502020204030204"/>
                  <a:ea typeface="华文细黑" pitchFamily="2" charset="-122"/>
                </a:rPr>
                <a:t>ONU 1</a:t>
              </a:r>
            </a:p>
          </p:txBody>
        </p:sp>
        <p:pic>
          <p:nvPicPr>
            <p:cNvPr id="163" name="Picture 26" descr="图片205">
              <a:extLst>
                <a:ext uri="{FF2B5EF4-FFF2-40B4-BE49-F238E27FC236}">
                  <a16:creationId xmlns:a16="http://schemas.microsoft.com/office/drawing/2014/main" id="{1E786999-B28D-8558-2B9C-4DA088C5CB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094754" y="2195287"/>
              <a:ext cx="378873" cy="1864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" name="Text Box 33">
              <a:extLst>
                <a:ext uri="{FF2B5EF4-FFF2-40B4-BE49-F238E27FC236}">
                  <a16:creationId xmlns:a16="http://schemas.microsoft.com/office/drawing/2014/main" id="{1EB91F0D-A297-B9CA-0728-46951D39D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93147" y="2134517"/>
              <a:ext cx="385792" cy="2761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17993" tIns="45678" rIns="17993" bIns="45678">
              <a:spAutoFit/>
            </a:bodyPr>
            <a:lstStyle/>
            <a:p>
              <a:pPr algn="ctr" defTabSz="1064787">
                <a:lnSpc>
                  <a:spcPct val="130000"/>
                </a:lnSpc>
                <a:spcBef>
                  <a:spcPct val="50000"/>
                </a:spcBef>
                <a:buClr>
                  <a:srgbClr val="990000"/>
                </a:buClr>
                <a:buSzPct val="60000"/>
              </a:pPr>
              <a:r>
                <a:rPr lang="en-US" altLang="zh-CN" sz="1000" b="1" dirty="0">
                  <a:solidFill>
                    <a:srgbClr val="000000"/>
                  </a:solidFill>
                  <a:latin typeface="Calibri" panose="020F0502020204030204"/>
                  <a:ea typeface="华文细黑" pitchFamily="2" charset="-122"/>
                </a:rPr>
                <a:t>ONU 2</a:t>
              </a:r>
            </a:p>
          </p:txBody>
        </p:sp>
        <p:pic>
          <p:nvPicPr>
            <p:cNvPr id="165" name="Picture 26" descr="图片205">
              <a:extLst>
                <a:ext uri="{FF2B5EF4-FFF2-40B4-BE49-F238E27FC236}">
                  <a16:creationId xmlns:a16="http://schemas.microsoft.com/office/drawing/2014/main" id="{9C28D205-BD89-CA23-C77E-BF092DC8A6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102491" y="2530053"/>
              <a:ext cx="378873" cy="1864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6" name="Text Box 33">
              <a:extLst>
                <a:ext uri="{FF2B5EF4-FFF2-40B4-BE49-F238E27FC236}">
                  <a16:creationId xmlns:a16="http://schemas.microsoft.com/office/drawing/2014/main" id="{121ED1F7-EE6B-570F-8F9E-45E30AAA5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0884" y="2469283"/>
              <a:ext cx="385792" cy="2761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17993" tIns="45678" rIns="17993" bIns="45678">
              <a:spAutoFit/>
            </a:bodyPr>
            <a:lstStyle/>
            <a:p>
              <a:pPr algn="ctr" defTabSz="1064787">
                <a:lnSpc>
                  <a:spcPct val="130000"/>
                </a:lnSpc>
                <a:spcBef>
                  <a:spcPct val="50000"/>
                </a:spcBef>
                <a:buClr>
                  <a:srgbClr val="990000"/>
                </a:buClr>
                <a:buSzPct val="60000"/>
              </a:pPr>
              <a:r>
                <a:rPr lang="en-US" altLang="zh-CN" sz="1000" b="1" dirty="0">
                  <a:solidFill>
                    <a:srgbClr val="000000"/>
                  </a:solidFill>
                  <a:latin typeface="Calibri" panose="020F0502020204030204"/>
                  <a:ea typeface="华文细黑" pitchFamily="2" charset="-122"/>
                </a:rPr>
                <a:t>ONU 3</a:t>
              </a:r>
            </a:p>
          </p:txBody>
        </p: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3416FCF0-ADEB-83C2-802E-B6B32ECD559A}"/>
                </a:ext>
              </a:extLst>
            </p:cNvPr>
            <p:cNvCxnSpPr>
              <a:cxnSpLocks/>
              <a:stCxn id="168" idx="3"/>
              <a:endCxn id="161" idx="1"/>
            </p:cNvCxnSpPr>
            <p:nvPr/>
          </p:nvCxnSpPr>
          <p:spPr>
            <a:xfrm flipV="1">
              <a:off x="10610070" y="1967355"/>
              <a:ext cx="484684" cy="27356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78417F87-5720-E3B6-C719-6ACA66D0B08E}"/>
                </a:ext>
              </a:extLst>
            </p:cNvPr>
            <p:cNvSpPr/>
            <p:nvPr/>
          </p:nvSpPr>
          <p:spPr>
            <a:xfrm>
              <a:off x="10450281" y="2171714"/>
              <a:ext cx="159789" cy="13840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3AAD5430-5CCF-1156-310B-DD1259BD535D}"/>
                </a:ext>
              </a:extLst>
            </p:cNvPr>
            <p:cNvSpPr/>
            <p:nvPr/>
          </p:nvSpPr>
          <p:spPr>
            <a:xfrm>
              <a:off x="10453159" y="2403495"/>
              <a:ext cx="159789" cy="13840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098752EE-24CD-C405-DAE3-25E2E1312184}"/>
                </a:ext>
              </a:extLst>
            </p:cNvPr>
            <p:cNvSpPr/>
            <p:nvPr/>
          </p:nvSpPr>
          <p:spPr>
            <a:xfrm>
              <a:off x="10478719" y="2664577"/>
              <a:ext cx="159789" cy="13840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rgbClr val="FF0000"/>
                </a:solidFill>
              </a:endParaRPr>
            </a:p>
          </p:txBody>
        </p: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723A76B9-01AF-C921-2BCB-BE4B38F7D1D0}"/>
                </a:ext>
              </a:extLst>
            </p:cNvPr>
            <p:cNvCxnSpPr>
              <a:cxnSpLocks/>
              <a:stCxn id="169" idx="3"/>
              <a:endCxn id="163" idx="1"/>
            </p:cNvCxnSpPr>
            <p:nvPr/>
          </p:nvCxnSpPr>
          <p:spPr>
            <a:xfrm flipV="1">
              <a:off x="10612948" y="2288515"/>
              <a:ext cx="481806" cy="18418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A6C87D6A-1B18-380E-8D1B-C5F2E258F405}"/>
                </a:ext>
              </a:extLst>
            </p:cNvPr>
            <p:cNvCxnSpPr>
              <a:cxnSpLocks/>
              <a:stCxn id="170" idx="3"/>
              <a:endCxn id="165" idx="1"/>
            </p:cNvCxnSpPr>
            <p:nvPr/>
          </p:nvCxnSpPr>
          <p:spPr>
            <a:xfrm flipV="1">
              <a:off x="10638508" y="2623281"/>
              <a:ext cx="463983" cy="11049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98703944-C035-FA3C-DFA6-7B533389EA5C}"/>
                </a:ext>
              </a:extLst>
            </p:cNvPr>
            <p:cNvSpPr/>
            <p:nvPr/>
          </p:nvSpPr>
          <p:spPr>
            <a:xfrm>
              <a:off x="10967224" y="1897978"/>
              <a:ext cx="202924" cy="12715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69C9DFD9-A697-5299-8861-DB50EA75204D}"/>
                </a:ext>
              </a:extLst>
            </p:cNvPr>
            <p:cNvSpPr/>
            <p:nvPr/>
          </p:nvSpPr>
          <p:spPr>
            <a:xfrm>
              <a:off x="10975234" y="2214156"/>
              <a:ext cx="202924" cy="12715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0AA2D149-DBD5-48E3-A0D4-A6C2F831CFD2}"/>
                </a:ext>
              </a:extLst>
            </p:cNvPr>
            <p:cNvSpPr/>
            <p:nvPr/>
          </p:nvSpPr>
          <p:spPr>
            <a:xfrm>
              <a:off x="10982971" y="2548770"/>
              <a:ext cx="202924" cy="12715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1F8C626D-B41C-93C8-1AF1-4AA0EDCB6C31}"/>
                </a:ext>
              </a:extLst>
            </p:cNvPr>
            <p:cNvSpPr/>
            <p:nvPr/>
          </p:nvSpPr>
          <p:spPr>
            <a:xfrm>
              <a:off x="8965564" y="2261560"/>
              <a:ext cx="228746" cy="25636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21587D0E-ADE4-F828-B250-20444824B014}"/>
                </a:ext>
              </a:extLst>
            </p:cNvPr>
            <p:cNvSpPr/>
            <p:nvPr/>
          </p:nvSpPr>
          <p:spPr>
            <a:xfrm>
              <a:off x="9840597" y="2272578"/>
              <a:ext cx="215720" cy="25636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970AB5A0-83F8-F1F2-D23C-D5B4E5E531B0}"/>
                </a:ext>
              </a:extLst>
            </p:cNvPr>
            <p:cNvSpPr txBox="1"/>
            <p:nvPr/>
          </p:nvSpPr>
          <p:spPr>
            <a:xfrm>
              <a:off x="3571575" y="4149701"/>
              <a:ext cx="9826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Feeder cable</a:t>
              </a:r>
            </a:p>
          </p:txBody>
        </p:sp>
        <p:cxnSp>
          <p:nvCxnSpPr>
            <p:cNvPr id="179" name="直接箭头连接符 225">
              <a:extLst>
                <a:ext uri="{FF2B5EF4-FFF2-40B4-BE49-F238E27FC236}">
                  <a16:creationId xmlns:a16="http://schemas.microsoft.com/office/drawing/2014/main" id="{A2F96C99-C440-B87F-4C77-9CB2A9B8DBC4}"/>
                </a:ext>
              </a:extLst>
            </p:cNvPr>
            <p:cNvCxnSpPr>
              <a:cxnSpLocks/>
            </p:cNvCxnSpPr>
            <p:nvPr/>
          </p:nvCxnSpPr>
          <p:spPr>
            <a:xfrm>
              <a:off x="2812329" y="4185732"/>
              <a:ext cx="255518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55">
              <a:extLst>
                <a:ext uri="{FF2B5EF4-FFF2-40B4-BE49-F238E27FC236}">
                  <a16:creationId xmlns:a16="http://schemas.microsoft.com/office/drawing/2014/main" id="{FDEF8575-4167-8327-B07B-11DFA46CA208}"/>
                </a:ext>
              </a:extLst>
            </p:cNvPr>
            <p:cNvCxnSpPr>
              <a:cxnSpLocks/>
            </p:cNvCxnSpPr>
            <p:nvPr/>
          </p:nvCxnSpPr>
          <p:spPr>
            <a:xfrm>
              <a:off x="3653347" y="2754168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0DFEEB87-43EA-8444-C93F-71CFB5BB53F8}"/>
                </a:ext>
              </a:extLst>
            </p:cNvPr>
            <p:cNvSpPr txBox="1"/>
            <p:nvPr/>
          </p:nvSpPr>
          <p:spPr>
            <a:xfrm>
              <a:off x="3822350" y="2678750"/>
              <a:ext cx="734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</a:t>
              </a:r>
            </a:p>
            <a:p>
              <a:pPr algn="ctr"/>
              <a:r>
                <a:rPr lang="en-US" sz="1200" dirty="0"/>
                <a:t>Segment</a:t>
              </a:r>
            </a:p>
          </p:txBody>
        </p:sp>
        <p:cxnSp>
          <p:nvCxnSpPr>
            <p:cNvPr id="182" name="直接箭头连接符 225">
              <a:extLst>
                <a:ext uri="{FF2B5EF4-FFF2-40B4-BE49-F238E27FC236}">
                  <a16:creationId xmlns:a16="http://schemas.microsoft.com/office/drawing/2014/main" id="{CA4F5766-9E10-168F-AE01-10E38182DBF9}"/>
                </a:ext>
              </a:extLst>
            </p:cNvPr>
            <p:cNvCxnSpPr>
              <a:cxnSpLocks/>
            </p:cNvCxnSpPr>
            <p:nvPr/>
          </p:nvCxnSpPr>
          <p:spPr>
            <a:xfrm>
              <a:off x="3662693" y="3130307"/>
              <a:ext cx="92651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5CC9EBEA-495A-C3E9-216E-3E27A13135C0}"/>
                </a:ext>
              </a:extLst>
            </p:cNvPr>
            <p:cNvSpPr txBox="1"/>
            <p:nvPr/>
          </p:nvSpPr>
          <p:spPr>
            <a:xfrm>
              <a:off x="3299624" y="3749267"/>
              <a:ext cx="742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Joint box</a:t>
              </a:r>
            </a:p>
          </p:txBody>
        </p:sp>
        <p:cxnSp>
          <p:nvCxnSpPr>
            <p:cNvPr id="184" name="直接箭头连接符 225">
              <a:extLst>
                <a:ext uri="{FF2B5EF4-FFF2-40B4-BE49-F238E27FC236}">
                  <a16:creationId xmlns:a16="http://schemas.microsoft.com/office/drawing/2014/main" id="{45D3DC3F-C9CF-29BD-0F58-1D9702B0E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0651" y="3130296"/>
              <a:ext cx="784310" cy="1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55">
              <a:extLst>
                <a:ext uri="{FF2B5EF4-FFF2-40B4-BE49-F238E27FC236}">
                  <a16:creationId xmlns:a16="http://schemas.microsoft.com/office/drawing/2014/main" id="{72AAAE20-6F04-143B-C843-830E66453694}"/>
                </a:ext>
              </a:extLst>
            </p:cNvPr>
            <p:cNvCxnSpPr>
              <a:cxnSpLocks/>
            </p:cNvCxnSpPr>
            <p:nvPr/>
          </p:nvCxnSpPr>
          <p:spPr>
            <a:xfrm>
              <a:off x="2845627" y="2778552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55">
              <a:extLst>
                <a:ext uri="{FF2B5EF4-FFF2-40B4-BE49-F238E27FC236}">
                  <a16:creationId xmlns:a16="http://schemas.microsoft.com/office/drawing/2014/main" id="{81A58EAF-610F-72AF-EA53-F7234BDBCF1F}"/>
                </a:ext>
              </a:extLst>
            </p:cNvPr>
            <p:cNvCxnSpPr>
              <a:cxnSpLocks/>
            </p:cNvCxnSpPr>
            <p:nvPr/>
          </p:nvCxnSpPr>
          <p:spPr>
            <a:xfrm>
              <a:off x="4600191" y="2727681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55">
              <a:extLst>
                <a:ext uri="{FF2B5EF4-FFF2-40B4-BE49-F238E27FC236}">
                  <a16:creationId xmlns:a16="http://schemas.microsoft.com/office/drawing/2014/main" id="{FF5EB940-39FA-8E63-E27E-1AF53D4515FA}"/>
                </a:ext>
              </a:extLst>
            </p:cNvPr>
            <p:cNvCxnSpPr>
              <a:cxnSpLocks/>
            </p:cNvCxnSpPr>
            <p:nvPr/>
          </p:nvCxnSpPr>
          <p:spPr>
            <a:xfrm>
              <a:off x="5367515" y="2745428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55">
              <a:extLst>
                <a:ext uri="{FF2B5EF4-FFF2-40B4-BE49-F238E27FC236}">
                  <a16:creationId xmlns:a16="http://schemas.microsoft.com/office/drawing/2014/main" id="{BFEC7E62-4E91-739D-6124-209B7A830622}"/>
                </a:ext>
              </a:extLst>
            </p:cNvPr>
            <p:cNvCxnSpPr>
              <a:cxnSpLocks/>
            </p:cNvCxnSpPr>
            <p:nvPr/>
          </p:nvCxnSpPr>
          <p:spPr>
            <a:xfrm>
              <a:off x="5367515" y="3932244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55">
              <a:extLst>
                <a:ext uri="{FF2B5EF4-FFF2-40B4-BE49-F238E27FC236}">
                  <a16:creationId xmlns:a16="http://schemas.microsoft.com/office/drawing/2014/main" id="{F7192B98-D5D3-C87D-4FFE-7663EC82F53D}"/>
                </a:ext>
              </a:extLst>
            </p:cNvPr>
            <p:cNvCxnSpPr>
              <a:cxnSpLocks/>
            </p:cNvCxnSpPr>
            <p:nvPr/>
          </p:nvCxnSpPr>
          <p:spPr>
            <a:xfrm>
              <a:off x="2811076" y="3928304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72F80357-C63A-5082-36D1-F4583CAB6631}"/>
                </a:ext>
              </a:extLst>
            </p:cNvPr>
            <p:cNvSpPr txBox="1"/>
            <p:nvPr/>
          </p:nvSpPr>
          <p:spPr>
            <a:xfrm>
              <a:off x="2883238" y="2675929"/>
              <a:ext cx="734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</a:t>
              </a:r>
            </a:p>
            <a:p>
              <a:pPr algn="ctr"/>
              <a:r>
                <a:rPr lang="en-US" sz="1200" dirty="0"/>
                <a:t>Segment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C0AB296E-099F-9E7A-C860-650B55FD2C37}"/>
                </a:ext>
              </a:extLst>
            </p:cNvPr>
            <p:cNvSpPr txBox="1"/>
            <p:nvPr/>
          </p:nvSpPr>
          <p:spPr>
            <a:xfrm>
              <a:off x="4607422" y="2671731"/>
              <a:ext cx="734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</a:t>
              </a:r>
            </a:p>
            <a:p>
              <a:pPr algn="ctr"/>
              <a:r>
                <a:rPr lang="en-US" sz="1200" dirty="0"/>
                <a:t>Segment</a:t>
              </a:r>
            </a:p>
          </p:txBody>
        </p:sp>
        <p:cxnSp>
          <p:nvCxnSpPr>
            <p:cNvPr id="192" name="直接箭头连接符 225">
              <a:extLst>
                <a:ext uri="{FF2B5EF4-FFF2-40B4-BE49-F238E27FC236}">
                  <a16:creationId xmlns:a16="http://schemas.microsoft.com/office/drawing/2014/main" id="{FCCD3127-D763-9276-70BA-17256770F45B}"/>
                </a:ext>
              </a:extLst>
            </p:cNvPr>
            <p:cNvCxnSpPr>
              <a:cxnSpLocks/>
            </p:cNvCxnSpPr>
            <p:nvPr/>
          </p:nvCxnSpPr>
          <p:spPr>
            <a:xfrm>
              <a:off x="4589204" y="3130307"/>
              <a:ext cx="77831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3F11365C-D3B4-42E0-2492-7702F4815248}"/>
                </a:ext>
              </a:extLst>
            </p:cNvPr>
            <p:cNvSpPr txBox="1"/>
            <p:nvPr/>
          </p:nvSpPr>
          <p:spPr>
            <a:xfrm>
              <a:off x="4217756" y="3759957"/>
              <a:ext cx="742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Joint box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72F6FF87-D726-CF2C-5A24-23A2FF0236FB}"/>
                </a:ext>
              </a:extLst>
            </p:cNvPr>
            <p:cNvSpPr txBox="1"/>
            <p:nvPr/>
          </p:nvSpPr>
          <p:spPr>
            <a:xfrm>
              <a:off x="5840214" y="2215650"/>
              <a:ext cx="9648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Distribution cable</a:t>
              </a:r>
            </a:p>
          </p:txBody>
        </p:sp>
        <p:sp>
          <p:nvSpPr>
            <p:cNvPr id="195" name="流程图: 直接访问存储器 218">
              <a:extLst>
                <a:ext uri="{FF2B5EF4-FFF2-40B4-BE49-F238E27FC236}">
                  <a16:creationId xmlns:a16="http://schemas.microsoft.com/office/drawing/2014/main" id="{0FBF628A-8C5D-543B-FC3D-038DCE4565AB}"/>
                </a:ext>
              </a:extLst>
            </p:cNvPr>
            <p:cNvSpPr/>
            <p:nvPr/>
          </p:nvSpPr>
          <p:spPr>
            <a:xfrm>
              <a:off x="7690174" y="2262655"/>
              <a:ext cx="620074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96" name="流程图: 直接访问存储器 218">
              <a:extLst>
                <a:ext uri="{FF2B5EF4-FFF2-40B4-BE49-F238E27FC236}">
                  <a16:creationId xmlns:a16="http://schemas.microsoft.com/office/drawing/2014/main" id="{A0FC51F5-BBFD-5033-5FD9-A28C3DDFE885}"/>
                </a:ext>
              </a:extLst>
            </p:cNvPr>
            <p:cNvSpPr/>
            <p:nvPr/>
          </p:nvSpPr>
          <p:spPr>
            <a:xfrm>
              <a:off x="9194309" y="2278273"/>
              <a:ext cx="648077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97" name="直接连接符 55">
              <a:extLst>
                <a:ext uri="{FF2B5EF4-FFF2-40B4-BE49-F238E27FC236}">
                  <a16:creationId xmlns:a16="http://schemas.microsoft.com/office/drawing/2014/main" id="{FFC8161F-4AA6-C890-C21A-0316DFA4B8C8}"/>
                </a:ext>
              </a:extLst>
            </p:cNvPr>
            <p:cNvCxnSpPr>
              <a:cxnSpLocks/>
            </p:cNvCxnSpPr>
            <p:nvPr/>
          </p:nvCxnSpPr>
          <p:spPr>
            <a:xfrm>
              <a:off x="1498979" y="4988260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箭头连接符 225">
              <a:extLst>
                <a:ext uri="{FF2B5EF4-FFF2-40B4-BE49-F238E27FC236}">
                  <a16:creationId xmlns:a16="http://schemas.microsoft.com/office/drawing/2014/main" id="{48C61E6D-5F67-C44C-D375-8C6A849D0557}"/>
                </a:ext>
              </a:extLst>
            </p:cNvPr>
            <p:cNvCxnSpPr>
              <a:cxnSpLocks/>
            </p:cNvCxnSpPr>
            <p:nvPr/>
          </p:nvCxnSpPr>
          <p:spPr>
            <a:xfrm>
              <a:off x="1454168" y="1521780"/>
              <a:ext cx="9715980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7B3D1807-B6E2-891F-E383-6452282313A5}"/>
                </a:ext>
              </a:extLst>
            </p:cNvPr>
            <p:cNvSpPr txBox="1"/>
            <p:nvPr/>
          </p:nvSpPr>
          <p:spPr>
            <a:xfrm>
              <a:off x="5376495" y="1290967"/>
              <a:ext cx="18739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PON Optical Path (mp2mp)</a:t>
              </a:r>
            </a:p>
          </p:txBody>
        </p:sp>
        <p:cxnSp>
          <p:nvCxnSpPr>
            <p:cNvPr id="200" name="直接连接符 55">
              <a:extLst>
                <a:ext uri="{FF2B5EF4-FFF2-40B4-BE49-F238E27FC236}">
                  <a16:creationId xmlns:a16="http://schemas.microsoft.com/office/drawing/2014/main" id="{0FA6FBFE-BDA8-5C80-C483-061F6C8CCF21}"/>
                </a:ext>
              </a:extLst>
            </p:cNvPr>
            <p:cNvCxnSpPr>
              <a:cxnSpLocks/>
            </p:cNvCxnSpPr>
            <p:nvPr/>
          </p:nvCxnSpPr>
          <p:spPr>
            <a:xfrm>
              <a:off x="1431923" y="1304675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55">
              <a:extLst>
                <a:ext uri="{FF2B5EF4-FFF2-40B4-BE49-F238E27FC236}">
                  <a16:creationId xmlns:a16="http://schemas.microsoft.com/office/drawing/2014/main" id="{5DC9FE6C-E5B3-0328-C871-06C07550A5E6}"/>
                </a:ext>
              </a:extLst>
            </p:cNvPr>
            <p:cNvCxnSpPr>
              <a:cxnSpLocks/>
            </p:cNvCxnSpPr>
            <p:nvPr/>
          </p:nvCxnSpPr>
          <p:spPr>
            <a:xfrm>
              <a:off x="11206594" y="1279361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89FECF35-A784-B5A9-5247-846A8CB7824B}"/>
                </a:ext>
              </a:extLst>
            </p:cNvPr>
            <p:cNvSpPr/>
            <p:nvPr/>
          </p:nvSpPr>
          <p:spPr>
            <a:xfrm>
              <a:off x="6013017" y="3392390"/>
              <a:ext cx="165966" cy="18314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03" name="流程图: 直接访问存储器 218">
              <a:extLst>
                <a:ext uri="{FF2B5EF4-FFF2-40B4-BE49-F238E27FC236}">
                  <a16:creationId xmlns:a16="http://schemas.microsoft.com/office/drawing/2014/main" id="{23134533-2B41-0D14-8F69-3827EB9D1D28}"/>
                </a:ext>
              </a:extLst>
            </p:cNvPr>
            <p:cNvSpPr/>
            <p:nvPr/>
          </p:nvSpPr>
          <p:spPr>
            <a:xfrm rot="627135">
              <a:off x="6110649" y="3395305"/>
              <a:ext cx="841180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18F6C846-AE79-8C75-3D35-DA4AB8FEED5F}"/>
                </a:ext>
              </a:extLst>
            </p:cNvPr>
            <p:cNvCxnSpPr>
              <a:cxnSpLocks/>
              <a:stCxn id="202" idx="3"/>
            </p:cNvCxnSpPr>
            <p:nvPr/>
          </p:nvCxnSpPr>
          <p:spPr>
            <a:xfrm>
              <a:off x="6178983" y="3483962"/>
              <a:ext cx="649167" cy="12890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A3DAE80E-1F7C-FBC8-360C-075DD77705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9124" y="4116498"/>
              <a:ext cx="729026" cy="32656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E59E83A8-04E6-AE33-EEC5-1F30BA463DBC}"/>
                </a:ext>
              </a:extLst>
            </p:cNvPr>
            <p:cNvCxnSpPr>
              <a:cxnSpLocks/>
            </p:cNvCxnSpPr>
            <p:nvPr/>
          </p:nvCxnSpPr>
          <p:spPr>
            <a:xfrm>
              <a:off x="6104041" y="4027023"/>
              <a:ext cx="724109" cy="3686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FF389A19-08D4-3658-7A08-8091CAC099A0}"/>
                </a:ext>
              </a:extLst>
            </p:cNvPr>
            <p:cNvSpPr/>
            <p:nvPr/>
          </p:nvSpPr>
          <p:spPr>
            <a:xfrm>
              <a:off x="5364217" y="3488121"/>
              <a:ext cx="303486" cy="3941"/>
            </a:xfrm>
            <a:custGeom>
              <a:avLst/>
              <a:gdLst>
                <a:gd name="connsiteX0" fmla="*/ 0 w 303486"/>
                <a:gd name="connsiteY0" fmla="*/ 3941 h 3941"/>
                <a:gd name="connsiteX1" fmla="*/ 303486 w 303486"/>
                <a:gd name="connsiteY1" fmla="*/ 0 h 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3486" h="3941">
                  <a:moveTo>
                    <a:pt x="0" y="3941"/>
                  </a:moveTo>
                  <a:lnTo>
                    <a:pt x="303486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C241FB13-472D-B8C9-7E0B-4A9D6D2DFCA5}"/>
                </a:ext>
              </a:extLst>
            </p:cNvPr>
            <p:cNvSpPr/>
            <p:nvPr/>
          </p:nvSpPr>
          <p:spPr>
            <a:xfrm>
              <a:off x="5399690" y="3539359"/>
              <a:ext cx="713389" cy="492672"/>
            </a:xfrm>
            <a:custGeom>
              <a:avLst/>
              <a:gdLst>
                <a:gd name="connsiteX0" fmla="*/ 0 w 713389"/>
                <a:gd name="connsiteY0" fmla="*/ 0 h 492672"/>
                <a:gd name="connsiteX1" fmla="*/ 713389 w 713389"/>
                <a:gd name="connsiteY1" fmla="*/ 492672 h 49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3389" h="492672">
                  <a:moveTo>
                    <a:pt x="0" y="0"/>
                  </a:moveTo>
                  <a:lnTo>
                    <a:pt x="713389" y="492672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B1493BE4-18AB-818A-E826-91D7163B8665}"/>
                </a:ext>
              </a:extLst>
            </p:cNvPr>
            <p:cNvSpPr/>
            <p:nvPr/>
          </p:nvSpPr>
          <p:spPr>
            <a:xfrm>
              <a:off x="5379019" y="3597383"/>
              <a:ext cx="713389" cy="492672"/>
            </a:xfrm>
            <a:custGeom>
              <a:avLst/>
              <a:gdLst>
                <a:gd name="connsiteX0" fmla="*/ 0 w 713389"/>
                <a:gd name="connsiteY0" fmla="*/ 0 h 492672"/>
                <a:gd name="connsiteX1" fmla="*/ 713389 w 713389"/>
                <a:gd name="connsiteY1" fmla="*/ 492672 h 49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3389" h="492672">
                  <a:moveTo>
                    <a:pt x="0" y="0"/>
                  </a:moveTo>
                  <a:lnTo>
                    <a:pt x="713389" y="492672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EA69D97B-EE80-D1AB-DB5D-36D2F8513F7D}"/>
                </a:ext>
              </a:extLst>
            </p:cNvPr>
            <p:cNvSpPr/>
            <p:nvPr/>
          </p:nvSpPr>
          <p:spPr>
            <a:xfrm>
              <a:off x="5911080" y="3985643"/>
              <a:ext cx="259548" cy="26514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11" name="流程图: 直接访问存储器 218">
              <a:extLst>
                <a:ext uri="{FF2B5EF4-FFF2-40B4-BE49-F238E27FC236}">
                  <a16:creationId xmlns:a16="http://schemas.microsoft.com/office/drawing/2014/main" id="{690B75CD-0B8E-5206-191C-0BAB1D395B44}"/>
                </a:ext>
              </a:extLst>
            </p:cNvPr>
            <p:cNvSpPr/>
            <p:nvPr/>
          </p:nvSpPr>
          <p:spPr>
            <a:xfrm rot="1419162">
              <a:off x="6050026" y="4138499"/>
              <a:ext cx="841180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D15AEB93-A076-3A4D-E93A-3E92C90BED27}"/>
                </a:ext>
              </a:extLst>
            </p:cNvPr>
            <p:cNvSpPr txBox="1"/>
            <p:nvPr/>
          </p:nvSpPr>
          <p:spPr>
            <a:xfrm>
              <a:off x="5259008" y="3079872"/>
              <a:ext cx="10322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Splitter</a:t>
              </a:r>
            </a:p>
          </p:txBody>
        </p:sp>
        <p:pic>
          <p:nvPicPr>
            <p:cNvPr id="213" name="图片 132">
              <a:extLst>
                <a:ext uri="{FF2B5EF4-FFF2-40B4-BE49-F238E27FC236}">
                  <a16:creationId xmlns:a16="http://schemas.microsoft.com/office/drawing/2014/main" id="{1D5F4E62-A35A-3466-7EF9-409C5FDA2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72691" y="2323507"/>
              <a:ext cx="404341" cy="421921"/>
            </a:xfrm>
            <a:prstGeom prst="rect">
              <a:avLst/>
            </a:prstGeom>
          </p:spPr>
        </p:pic>
        <p:pic>
          <p:nvPicPr>
            <p:cNvPr id="214" name="图片 132">
              <a:extLst>
                <a:ext uri="{FF2B5EF4-FFF2-40B4-BE49-F238E27FC236}">
                  <a16:creationId xmlns:a16="http://schemas.microsoft.com/office/drawing/2014/main" id="{0DE3EFA2-9C06-4223-9292-82AA28347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81890" y="2529370"/>
              <a:ext cx="404341" cy="421921"/>
            </a:xfrm>
            <a:prstGeom prst="rect">
              <a:avLst/>
            </a:prstGeom>
          </p:spPr>
        </p:pic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9C1934A-5ECA-F180-CCDF-E418E90B4389}"/>
                </a:ext>
              </a:extLst>
            </p:cNvPr>
            <p:cNvSpPr txBox="1"/>
            <p:nvPr/>
          </p:nvSpPr>
          <p:spPr>
            <a:xfrm>
              <a:off x="6851915" y="1984561"/>
              <a:ext cx="10322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Splitter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0E2726C9-98B6-0883-1366-2EB6DDFE281C}"/>
                </a:ext>
              </a:extLst>
            </p:cNvPr>
            <p:cNvSpPr txBox="1"/>
            <p:nvPr/>
          </p:nvSpPr>
          <p:spPr>
            <a:xfrm>
              <a:off x="7601261" y="1821139"/>
              <a:ext cx="9648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Distribution cable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1C8AEAA2-3154-4C25-A378-C4EA2888989B}"/>
                </a:ext>
              </a:extLst>
            </p:cNvPr>
            <p:cNvSpPr txBox="1"/>
            <p:nvPr/>
          </p:nvSpPr>
          <p:spPr>
            <a:xfrm>
              <a:off x="9077039" y="1826849"/>
              <a:ext cx="8309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Drop cable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41058827-7457-6A6D-0C2C-6CDD40A4E35C}"/>
                </a:ext>
              </a:extLst>
            </p:cNvPr>
            <p:cNvSpPr txBox="1"/>
            <p:nvPr/>
          </p:nvSpPr>
          <p:spPr>
            <a:xfrm>
              <a:off x="10370493" y="1651342"/>
              <a:ext cx="8309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Drop cable</a:t>
              </a: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A9C9897A-C8F4-CCBD-E2C3-640C05677670}"/>
                </a:ext>
              </a:extLst>
            </p:cNvPr>
            <p:cNvSpPr/>
            <p:nvPr/>
          </p:nvSpPr>
          <p:spPr>
            <a:xfrm>
              <a:off x="1157631" y="2530053"/>
              <a:ext cx="395861" cy="34065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A1</a:t>
              </a:r>
            </a:p>
          </p:txBody>
        </p: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4025EC3-39B2-F27B-18C8-32EA868B68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2620" y="2508028"/>
              <a:ext cx="645367" cy="82671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6BDAF0C5-3149-B7E0-C34B-CE5236018721}"/>
                </a:ext>
              </a:extLst>
            </p:cNvPr>
            <p:cNvCxnSpPr>
              <a:cxnSpLocks/>
            </p:cNvCxnSpPr>
            <p:nvPr/>
          </p:nvCxnSpPr>
          <p:spPr>
            <a:xfrm>
              <a:off x="7623031" y="2469283"/>
              <a:ext cx="66201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11900B53-A6B7-6C56-5AAF-E2D2365488AB}"/>
                </a:ext>
              </a:extLst>
            </p:cNvPr>
            <p:cNvCxnSpPr>
              <a:cxnSpLocks/>
            </p:cNvCxnSpPr>
            <p:nvPr/>
          </p:nvCxnSpPr>
          <p:spPr>
            <a:xfrm>
              <a:off x="9194310" y="2480847"/>
              <a:ext cx="66201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F2066FFC-CF4D-CF34-7D36-40E66B133C1B}"/>
                </a:ext>
              </a:extLst>
            </p:cNvPr>
            <p:cNvSpPr txBox="1"/>
            <p:nvPr/>
          </p:nvSpPr>
          <p:spPr>
            <a:xfrm>
              <a:off x="8467376" y="3931050"/>
              <a:ext cx="3637537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Passive devices: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ODF (Optical Distribution Frame)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Joint box (splicing/connector)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FDT (Fiber Distribution Terminal)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FAT (Fiber Access Terminal)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ATB (Access Terminal Box)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Cable/cable segments</a:t>
              </a:r>
            </a:p>
          </p:txBody>
        </p:sp>
      </p:grpSp>
      <p:sp>
        <p:nvSpPr>
          <p:cNvPr id="225" name="Footer Placeholder 3">
            <a:extLst>
              <a:ext uri="{FF2B5EF4-FFF2-40B4-BE49-F238E27FC236}">
                <a16:creationId xmlns:a16="http://schemas.microsoft.com/office/drawing/2014/main" id="{23584AC3-867C-501D-AA16-CA80CBB9A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  <p:sp>
        <p:nvSpPr>
          <p:cNvPr id="226" name="Date Placeholder 1">
            <a:extLst>
              <a:ext uri="{FF2B5EF4-FFF2-40B4-BE49-F238E27FC236}">
                <a16:creationId xmlns:a16="http://schemas.microsoft.com/office/drawing/2014/main" id="{A9416663-0B08-43A6-807A-B12E3FCD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</p:spTree>
    <p:extLst>
      <p:ext uri="{BB962C8B-B14F-4D97-AF65-F5344CB8AC3E}">
        <p14:creationId xmlns:p14="http://schemas.microsoft.com/office/powerpoint/2010/main" val="761356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63334-C398-85E2-1242-059C2DE1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0C50-EE7F-0FEA-BFB3-8A61603F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Passive Infrastructure – OTN/DWDM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505C-78CA-903B-37F0-5C0C0D1C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AA292ED-EFC8-3882-07D0-630626A3C7A5}"/>
              </a:ext>
            </a:extLst>
          </p:cNvPr>
          <p:cNvGrpSpPr/>
          <p:nvPr/>
        </p:nvGrpSpPr>
        <p:grpSpPr>
          <a:xfrm>
            <a:off x="276226" y="1595594"/>
            <a:ext cx="10817206" cy="4712662"/>
            <a:chOff x="276226" y="1595594"/>
            <a:chExt cx="10817206" cy="471266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35DDD8-D54C-D3D9-8940-0932F31F6BE3}"/>
                </a:ext>
              </a:extLst>
            </p:cNvPr>
            <p:cNvSpPr/>
            <p:nvPr/>
          </p:nvSpPr>
          <p:spPr>
            <a:xfrm>
              <a:off x="2021896" y="2874815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ODF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6A8EBE2-6D23-5F51-FB3E-6D3EC3339046}"/>
                </a:ext>
              </a:extLst>
            </p:cNvPr>
            <p:cNvSpPr/>
            <p:nvPr/>
          </p:nvSpPr>
          <p:spPr>
            <a:xfrm>
              <a:off x="1157631" y="2530053"/>
              <a:ext cx="395861" cy="34065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A1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F85C3F9-6EED-DB51-23E3-18B193172B9E}"/>
                </a:ext>
              </a:extLst>
            </p:cNvPr>
            <p:cNvCxnSpPr>
              <a:cxnSpLocks/>
            </p:cNvCxnSpPr>
            <p:nvPr/>
          </p:nvCxnSpPr>
          <p:spPr>
            <a:xfrm>
              <a:off x="2811076" y="3492216"/>
              <a:ext cx="25163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A1887B-67C5-4518-71EE-06C69456A663}"/>
                </a:ext>
              </a:extLst>
            </p:cNvPr>
            <p:cNvSpPr txBox="1"/>
            <p:nvPr/>
          </p:nvSpPr>
          <p:spPr>
            <a:xfrm>
              <a:off x="1525591" y="2455143"/>
              <a:ext cx="9653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 </a:t>
              </a:r>
            </a:p>
            <a:p>
              <a:pPr algn="ctr"/>
              <a:r>
                <a:rPr lang="en-US" sz="1200" dirty="0"/>
                <a:t>(single fiber)</a:t>
              </a:r>
            </a:p>
          </p:txBody>
        </p:sp>
        <p:sp>
          <p:nvSpPr>
            <p:cNvPr id="13" name="Trapezoid 12">
              <a:extLst>
                <a:ext uri="{FF2B5EF4-FFF2-40B4-BE49-F238E27FC236}">
                  <a16:creationId xmlns:a16="http://schemas.microsoft.com/office/drawing/2014/main" id="{A49A116E-644B-BF39-9CFD-B003A3D7D62B}"/>
                </a:ext>
              </a:extLst>
            </p:cNvPr>
            <p:cNvSpPr/>
            <p:nvPr/>
          </p:nvSpPr>
          <p:spPr>
            <a:xfrm rot="5400000">
              <a:off x="632205" y="2558903"/>
              <a:ext cx="717149" cy="277907"/>
            </a:xfrm>
            <a:prstGeom prst="trapezoid">
              <a:avLst>
                <a:gd name="adj" fmla="val 40261"/>
              </a:avLst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WDM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6561A3-C8DF-0191-E7FA-BD7B05C729AF}"/>
                </a:ext>
              </a:extLst>
            </p:cNvPr>
            <p:cNvSpPr/>
            <p:nvPr/>
          </p:nvSpPr>
          <p:spPr>
            <a:xfrm>
              <a:off x="672877" y="2090846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NE-1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3F52BAE-4DFA-1777-5081-6BFBE2AA0DC6}"/>
                </a:ext>
              </a:extLst>
            </p:cNvPr>
            <p:cNvSpPr/>
            <p:nvPr/>
          </p:nvSpPr>
          <p:spPr>
            <a:xfrm>
              <a:off x="1922074" y="3091464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17A23A-DD37-25EB-4B3D-C48CC1041002}"/>
                </a:ext>
              </a:extLst>
            </p:cNvPr>
            <p:cNvSpPr/>
            <p:nvPr/>
          </p:nvSpPr>
          <p:spPr>
            <a:xfrm>
              <a:off x="1911365" y="3795876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47293F21-0C65-51CD-4A1E-CDD8206E0B3B}"/>
                </a:ext>
              </a:extLst>
            </p:cNvPr>
            <p:cNvSpPr/>
            <p:nvPr/>
          </p:nvSpPr>
          <p:spPr>
            <a:xfrm rot="5400000">
              <a:off x="632205" y="4490732"/>
              <a:ext cx="717149" cy="277907"/>
            </a:xfrm>
            <a:prstGeom prst="trapezoid">
              <a:avLst>
                <a:gd name="adj" fmla="val 40261"/>
              </a:avLst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WDM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28D6980-B7F5-752B-92B4-A33F54FFC44D}"/>
                </a:ext>
              </a:extLst>
            </p:cNvPr>
            <p:cNvSpPr/>
            <p:nvPr/>
          </p:nvSpPr>
          <p:spPr>
            <a:xfrm>
              <a:off x="680949" y="3985743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NE-2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3BE773-B1A7-474C-EA4D-7CDFDACB8B53}"/>
                </a:ext>
              </a:extLst>
            </p:cNvPr>
            <p:cNvSpPr/>
            <p:nvPr/>
          </p:nvSpPr>
          <p:spPr>
            <a:xfrm>
              <a:off x="1161757" y="4443059"/>
              <a:ext cx="395861" cy="34065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05DD83-5071-3952-DFBD-97C8D75402D8}"/>
                </a:ext>
              </a:extLst>
            </p:cNvPr>
            <p:cNvSpPr/>
            <p:nvPr/>
          </p:nvSpPr>
          <p:spPr>
            <a:xfrm>
              <a:off x="440193" y="1768116"/>
              <a:ext cx="2356945" cy="423034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CO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D4B80CC-D978-1BBC-FE21-9366A7D03B4E}"/>
                </a:ext>
              </a:extLst>
            </p:cNvPr>
            <p:cNvCxnSpPr>
              <a:cxnSpLocks/>
              <a:stCxn id="19" idx="3"/>
              <a:endCxn id="16" idx="1"/>
            </p:cNvCxnSpPr>
            <p:nvPr/>
          </p:nvCxnSpPr>
          <p:spPr>
            <a:xfrm flipV="1">
              <a:off x="1557618" y="3932244"/>
              <a:ext cx="353747" cy="6811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64FF44-FF9C-63DF-538D-CC25B7868B97}"/>
                </a:ext>
              </a:extLst>
            </p:cNvPr>
            <p:cNvCxnSpPr>
              <a:cxnSpLocks/>
              <a:stCxn id="8" idx="3"/>
              <a:endCxn id="15" idx="1"/>
            </p:cNvCxnSpPr>
            <p:nvPr/>
          </p:nvCxnSpPr>
          <p:spPr>
            <a:xfrm>
              <a:off x="1553492" y="2700382"/>
              <a:ext cx="368582" cy="5274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2EFC3B-C1AE-3503-A5E5-4B0E21B583A6}"/>
                </a:ext>
              </a:extLst>
            </p:cNvPr>
            <p:cNvSpPr/>
            <p:nvPr/>
          </p:nvSpPr>
          <p:spPr>
            <a:xfrm>
              <a:off x="2564444" y="3445145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84EF5C-B671-ACD6-E833-5A9A75AFC983}"/>
                </a:ext>
              </a:extLst>
            </p:cNvPr>
            <p:cNvSpPr txBox="1"/>
            <p:nvPr/>
          </p:nvSpPr>
          <p:spPr>
            <a:xfrm>
              <a:off x="2256938" y="3407464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618C162-A69A-E244-BC55-020C97C1C939}"/>
                </a:ext>
              </a:extLst>
            </p:cNvPr>
            <p:cNvCxnSpPr>
              <a:cxnSpLocks/>
            </p:cNvCxnSpPr>
            <p:nvPr/>
          </p:nvCxnSpPr>
          <p:spPr>
            <a:xfrm>
              <a:off x="2811076" y="3541567"/>
              <a:ext cx="25163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B78B8B-AF78-E8D6-AF32-7EEA90C6D50B}"/>
                </a:ext>
              </a:extLst>
            </p:cNvPr>
            <p:cNvCxnSpPr>
              <a:cxnSpLocks/>
            </p:cNvCxnSpPr>
            <p:nvPr/>
          </p:nvCxnSpPr>
          <p:spPr>
            <a:xfrm>
              <a:off x="2811076" y="3592130"/>
              <a:ext cx="25163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07E1CD8-698C-EF34-9C2A-BF01CF194A37}"/>
                </a:ext>
              </a:extLst>
            </p:cNvPr>
            <p:cNvSpPr txBox="1"/>
            <p:nvPr/>
          </p:nvSpPr>
          <p:spPr>
            <a:xfrm>
              <a:off x="866182" y="3612863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0F0F113-2774-CAF6-E816-B755D943A353}"/>
                </a:ext>
              </a:extLst>
            </p:cNvPr>
            <p:cNvSpPr txBox="1"/>
            <p:nvPr/>
          </p:nvSpPr>
          <p:spPr>
            <a:xfrm>
              <a:off x="1860805" y="33271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52449A5-DE17-558C-02E1-A1DE736723E2}"/>
                </a:ext>
              </a:extLst>
            </p:cNvPr>
            <p:cNvCxnSpPr>
              <a:cxnSpLocks/>
            </p:cNvCxnSpPr>
            <p:nvPr/>
          </p:nvCxnSpPr>
          <p:spPr>
            <a:xfrm>
              <a:off x="2811076" y="3646290"/>
              <a:ext cx="25163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图: 直接访问存储器 220">
              <a:extLst>
                <a:ext uri="{FF2B5EF4-FFF2-40B4-BE49-F238E27FC236}">
                  <a16:creationId xmlns:a16="http://schemas.microsoft.com/office/drawing/2014/main" id="{51A7F72C-DA86-5590-2587-A016C41780F1}"/>
                </a:ext>
              </a:extLst>
            </p:cNvPr>
            <p:cNvSpPr/>
            <p:nvPr/>
          </p:nvSpPr>
          <p:spPr>
            <a:xfrm>
              <a:off x="3503777" y="3361166"/>
              <a:ext cx="284401" cy="408404"/>
            </a:xfrm>
            <a:prstGeom prst="flowChartMagneticDrum">
              <a:avLst/>
            </a:prstGeom>
            <a:solidFill>
              <a:srgbClr val="00B0F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1" name="流程图: 直接访问存储器 220">
              <a:extLst>
                <a:ext uri="{FF2B5EF4-FFF2-40B4-BE49-F238E27FC236}">
                  <a16:creationId xmlns:a16="http://schemas.microsoft.com/office/drawing/2014/main" id="{C9B80E40-32D9-0ED9-0E7F-196B4929306C}"/>
                </a:ext>
              </a:extLst>
            </p:cNvPr>
            <p:cNvSpPr/>
            <p:nvPr/>
          </p:nvSpPr>
          <p:spPr>
            <a:xfrm>
              <a:off x="4447004" y="3366930"/>
              <a:ext cx="284401" cy="408404"/>
            </a:xfrm>
            <a:prstGeom prst="flowChartMagneticDrum">
              <a:avLst/>
            </a:prstGeom>
            <a:solidFill>
              <a:srgbClr val="00B0F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2" name="流程图: 直接访问存储器 218">
              <a:extLst>
                <a:ext uri="{FF2B5EF4-FFF2-40B4-BE49-F238E27FC236}">
                  <a16:creationId xmlns:a16="http://schemas.microsoft.com/office/drawing/2014/main" id="{161FE34A-88E3-0C52-D06E-C068BF8120B9}"/>
                </a:ext>
              </a:extLst>
            </p:cNvPr>
            <p:cNvSpPr/>
            <p:nvPr/>
          </p:nvSpPr>
          <p:spPr>
            <a:xfrm>
              <a:off x="2749913" y="3421868"/>
              <a:ext cx="753864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3" name="流程图: 直接访问存储器 218">
              <a:extLst>
                <a:ext uri="{FF2B5EF4-FFF2-40B4-BE49-F238E27FC236}">
                  <a16:creationId xmlns:a16="http://schemas.microsoft.com/office/drawing/2014/main" id="{057262EE-B47C-A4DC-97CB-0F9C455ED895}"/>
                </a:ext>
              </a:extLst>
            </p:cNvPr>
            <p:cNvSpPr/>
            <p:nvPr/>
          </p:nvSpPr>
          <p:spPr>
            <a:xfrm>
              <a:off x="3778982" y="3417361"/>
              <a:ext cx="679065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4" name="流程图: 直接访问存储器 218">
              <a:extLst>
                <a:ext uri="{FF2B5EF4-FFF2-40B4-BE49-F238E27FC236}">
                  <a16:creationId xmlns:a16="http://schemas.microsoft.com/office/drawing/2014/main" id="{F6D3D9CD-1384-047F-CE15-9A57C37C4633}"/>
                </a:ext>
              </a:extLst>
            </p:cNvPr>
            <p:cNvSpPr/>
            <p:nvPr/>
          </p:nvSpPr>
          <p:spPr>
            <a:xfrm>
              <a:off x="4703420" y="3425132"/>
              <a:ext cx="665676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6E29778-CF3B-1187-3A53-12DC0DC09029}"/>
                </a:ext>
              </a:extLst>
            </p:cNvPr>
            <p:cNvSpPr/>
            <p:nvPr/>
          </p:nvSpPr>
          <p:spPr>
            <a:xfrm>
              <a:off x="5511065" y="3091035"/>
              <a:ext cx="680975" cy="12367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FDT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D9B27D1-A82A-09AC-E38B-CC0171117D5D}"/>
                </a:ext>
              </a:extLst>
            </p:cNvPr>
            <p:cNvSpPr/>
            <p:nvPr/>
          </p:nvSpPr>
          <p:spPr>
            <a:xfrm>
              <a:off x="5740944" y="2926963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7215E3D-8E50-9D57-22DA-A756F2DFF729}"/>
                </a:ext>
              </a:extLst>
            </p:cNvPr>
            <p:cNvCxnSpPr>
              <a:cxnSpLocks/>
              <a:stCxn id="88" idx="3"/>
            </p:cNvCxnSpPr>
            <p:nvPr/>
          </p:nvCxnSpPr>
          <p:spPr>
            <a:xfrm>
              <a:off x="6336786" y="3602559"/>
              <a:ext cx="201239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流程图: 直接访问存储器 218">
              <a:extLst>
                <a:ext uri="{FF2B5EF4-FFF2-40B4-BE49-F238E27FC236}">
                  <a16:creationId xmlns:a16="http://schemas.microsoft.com/office/drawing/2014/main" id="{0E016CA7-11F1-3D63-2853-1B11BFA5672C}"/>
                </a:ext>
              </a:extLst>
            </p:cNvPr>
            <p:cNvSpPr/>
            <p:nvPr/>
          </p:nvSpPr>
          <p:spPr>
            <a:xfrm>
              <a:off x="6336786" y="3474657"/>
              <a:ext cx="858139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9" name="流程图: 直接访问存储器 218">
              <a:extLst>
                <a:ext uri="{FF2B5EF4-FFF2-40B4-BE49-F238E27FC236}">
                  <a16:creationId xmlns:a16="http://schemas.microsoft.com/office/drawing/2014/main" id="{C205305B-9CB7-3E41-E71D-786661F879CA}"/>
                </a:ext>
              </a:extLst>
            </p:cNvPr>
            <p:cNvSpPr/>
            <p:nvPr/>
          </p:nvSpPr>
          <p:spPr>
            <a:xfrm>
              <a:off x="7459903" y="3474656"/>
              <a:ext cx="950936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9383B3C-EC81-32D7-6B37-FF4C3F777FE6}"/>
                </a:ext>
              </a:extLst>
            </p:cNvPr>
            <p:cNvSpPr txBox="1"/>
            <p:nvPr/>
          </p:nvSpPr>
          <p:spPr>
            <a:xfrm>
              <a:off x="3824803" y="2275921"/>
              <a:ext cx="5325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</a:t>
              </a:r>
            </a:p>
          </p:txBody>
        </p:sp>
        <p:cxnSp>
          <p:nvCxnSpPr>
            <p:cNvPr id="41" name="直接箭头连接符 225">
              <a:extLst>
                <a:ext uri="{FF2B5EF4-FFF2-40B4-BE49-F238E27FC236}">
                  <a16:creationId xmlns:a16="http://schemas.microsoft.com/office/drawing/2014/main" id="{FBDF4879-9534-C982-AB13-0E282E1C02BD}"/>
                </a:ext>
              </a:extLst>
            </p:cNvPr>
            <p:cNvCxnSpPr>
              <a:cxnSpLocks/>
            </p:cNvCxnSpPr>
            <p:nvPr/>
          </p:nvCxnSpPr>
          <p:spPr>
            <a:xfrm>
              <a:off x="2845627" y="2514625"/>
              <a:ext cx="252188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5">
              <a:extLst>
                <a:ext uri="{FF2B5EF4-FFF2-40B4-BE49-F238E27FC236}">
                  <a16:creationId xmlns:a16="http://schemas.microsoft.com/office/drawing/2014/main" id="{124581AA-AAEB-51A3-64E7-8873E8BC6058}"/>
                </a:ext>
              </a:extLst>
            </p:cNvPr>
            <p:cNvCxnSpPr>
              <a:cxnSpLocks/>
            </p:cNvCxnSpPr>
            <p:nvPr/>
          </p:nvCxnSpPr>
          <p:spPr>
            <a:xfrm>
              <a:off x="3653347" y="2754168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B09EAE-5345-F932-11C8-5B9025766AC9}"/>
                </a:ext>
              </a:extLst>
            </p:cNvPr>
            <p:cNvSpPr txBox="1"/>
            <p:nvPr/>
          </p:nvSpPr>
          <p:spPr>
            <a:xfrm>
              <a:off x="3822350" y="2678750"/>
              <a:ext cx="734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</a:t>
              </a:r>
            </a:p>
            <a:p>
              <a:pPr algn="ctr"/>
              <a:r>
                <a:rPr lang="en-US" sz="1200" dirty="0"/>
                <a:t>Segment</a:t>
              </a:r>
            </a:p>
          </p:txBody>
        </p:sp>
        <p:cxnSp>
          <p:nvCxnSpPr>
            <p:cNvPr id="44" name="直接箭头连接符 225">
              <a:extLst>
                <a:ext uri="{FF2B5EF4-FFF2-40B4-BE49-F238E27FC236}">
                  <a16:creationId xmlns:a16="http://schemas.microsoft.com/office/drawing/2014/main" id="{5D3D9BA1-C41F-3A7B-C44A-D3D19239EBE8}"/>
                </a:ext>
              </a:extLst>
            </p:cNvPr>
            <p:cNvCxnSpPr>
              <a:cxnSpLocks/>
            </p:cNvCxnSpPr>
            <p:nvPr/>
          </p:nvCxnSpPr>
          <p:spPr>
            <a:xfrm>
              <a:off x="3662693" y="3130307"/>
              <a:ext cx="92651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562E97C-1EBD-3B80-A8C4-2FC811FD5DA8}"/>
                </a:ext>
              </a:extLst>
            </p:cNvPr>
            <p:cNvSpPr txBox="1"/>
            <p:nvPr/>
          </p:nvSpPr>
          <p:spPr>
            <a:xfrm>
              <a:off x="3299624" y="3749267"/>
              <a:ext cx="742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Joint box</a:t>
              </a:r>
            </a:p>
          </p:txBody>
        </p:sp>
        <p:cxnSp>
          <p:nvCxnSpPr>
            <p:cNvPr id="46" name="直接箭头连接符 225">
              <a:extLst>
                <a:ext uri="{FF2B5EF4-FFF2-40B4-BE49-F238E27FC236}">
                  <a16:creationId xmlns:a16="http://schemas.microsoft.com/office/drawing/2014/main" id="{330E60B7-9D44-7AE0-3E25-EA55F3D3B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0651" y="3130296"/>
              <a:ext cx="784310" cy="1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5">
              <a:extLst>
                <a:ext uri="{FF2B5EF4-FFF2-40B4-BE49-F238E27FC236}">
                  <a16:creationId xmlns:a16="http://schemas.microsoft.com/office/drawing/2014/main" id="{44FE604B-3904-997E-AA6B-675C6BCCB260}"/>
                </a:ext>
              </a:extLst>
            </p:cNvPr>
            <p:cNvCxnSpPr>
              <a:cxnSpLocks/>
            </p:cNvCxnSpPr>
            <p:nvPr/>
          </p:nvCxnSpPr>
          <p:spPr>
            <a:xfrm>
              <a:off x="2845627" y="2455143"/>
              <a:ext cx="0" cy="78685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55">
              <a:extLst>
                <a:ext uri="{FF2B5EF4-FFF2-40B4-BE49-F238E27FC236}">
                  <a16:creationId xmlns:a16="http://schemas.microsoft.com/office/drawing/2014/main" id="{B5EE391A-CC23-CFA2-469B-CEA1391A0585}"/>
                </a:ext>
              </a:extLst>
            </p:cNvPr>
            <p:cNvCxnSpPr>
              <a:cxnSpLocks/>
            </p:cNvCxnSpPr>
            <p:nvPr/>
          </p:nvCxnSpPr>
          <p:spPr>
            <a:xfrm>
              <a:off x="4600191" y="2727681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55">
              <a:extLst>
                <a:ext uri="{FF2B5EF4-FFF2-40B4-BE49-F238E27FC236}">
                  <a16:creationId xmlns:a16="http://schemas.microsoft.com/office/drawing/2014/main" id="{4E6406E7-350F-2DC7-5781-EB4F0F624AB7}"/>
                </a:ext>
              </a:extLst>
            </p:cNvPr>
            <p:cNvCxnSpPr>
              <a:cxnSpLocks/>
            </p:cNvCxnSpPr>
            <p:nvPr/>
          </p:nvCxnSpPr>
          <p:spPr>
            <a:xfrm>
              <a:off x="5367515" y="2455143"/>
              <a:ext cx="0" cy="75372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55">
              <a:extLst>
                <a:ext uri="{FF2B5EF4-FFF2-40B4-BE49-F238E27FC236}">
                  <a16:creationId xmlns:a16="http://schemas.microsoft.com/office/drawing/2014/main" id="{CFCF9A3B-DB6E-9C47-7D88-15C8CBB4D74E}"/>
                </a:ext>
              </a:extLst>
            </p:cNvPr>
            <p:cNvCxnSpPr>
              <a:cxnSpLocks/>
            </p:cNvCxnSpPr>
            <p:nvPr/>
          </p:nvCxnSpPr>
          <p:spPr>
            <a:xfrm>
              <a:off x="5367515" y="3932244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5">
              <a:extLst>
                <a:ext uri="{FF2B5EF4-FFF2-40B4-BE49-F238E27FC236}">
                  <a16:creationId xmlns:a16="http://schemas.microsoft.com/office/drawing/2014/main" id="{82E24613-785D-FDC7-B34A-B43EE422D3CD}"/>
                </a:ext>
              </a:extLst>
            </p:cNvPr>
            <p:cNvCxnSpPr>
              <a:cxnSpLocks/>
            </p:cNvCxnSpPr>
            <p:nvPr/>
          </p:nvCxnSpPr>
          <p:spPr>
            <a:xfrm>
              <a:off x="2811076" y="3928304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E3749AA-D89F-7216-882E-3B2D965A36BF}"/>
                </a:ext>
              </a:extLst>
            </p:cNvPr>
            <p:cNvSpPr txBox="1"/>
            <p:nvPr/>
          </p:nvSpPr>
          <p:spPr>
            <a:xfrm>
              <a:off x="2883238" y="2675929"/>
              <a:ext cx="734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</a:t>
              </a:r>
            </a:p>
            <a:p>
              <a:pPr algn="ctr"/>
              <a:r>
                <a:rPr lang="en-US" sz="1200" dirty="0"/>
                <a:t>Segment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A562F43-4D9E-C638-9410-F53C6FC03CB1}"/>
                </a:ext>
              </a:extLst>
            </p:cNvPr>
            <p:cNvSpPr txBox="1"/>
            <p:nvPr/>
          </p:nvSpPr>
          <p:spPr>
            <a:xfrm>
              <a:off x="4607422" y="2671731"/>
              <a:ext cx="734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</a:t>
              </a:r>
            </a:p>
            <a:p>
              <a:pPr algn="ctr"/>
              <a:r>
                <a:rPr lang="en-US" sz="1200" dirty="0"/>
                <a:t>Segment</a:t>
              </a:r>
            </a:p>
          </p:txBody>
        </p:sp>
        <p:cxnSp>
          <p:nvCxnSpPr>
            <p:cNvPr id="54" name="直接箭头连接符 225">
              <a:extLst>
                <a:ext uri="{FF2B5EF4-FFF2-40B4-BE49-F238E27FC236}">
                  <a16:creationId xmlns:a16="http://schemas.microsoft.com/office/drawing/2014/main" id="{EEF6DA87-61F6-7E82-801C-E68D02F1B7DC}"/>
                </a:ext>
              </a:extLst>
            </p:cNvPr>
            <p:cNvCxnSpPr>
              <a:cxnSpLocks/>
            </p:cNvCxnSpPr>
            <p:nvPr/>
          </p:nvCxnSpPr>
          <p:spPr>
            <a:xfrm>
              <a:off x="4589204" y="3130307"/>
              <a:ext cx="77831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A8DF416-15DF-86D1-B5C3-4415ED2DCA73}"/>
                </a:ext>
              </a:extLst>
            </p:cNvPr>
            <p:cNvSpPr txBox="1"/>
            <p:nvPr/>
          </p:nvSpPr>
          <p:spPr>
            <a:xfrm>
              <a:off x="4217756" y="3759957"/>
              <a:ext cx="742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Joint box</a:t>
              </a:r>
            </a:p>
          </p:txBody>
        </p:sp>
        <p:cxnSp>
          <p:nvCxnSpPr>
            <p:cNvPr id="56" name="直接箭头连接符 225">
              <a:extLst>
                <a:ext uri="{FF2B5EF4-FFF2-40B4-BE49-F238E27FC236}">
                  <a16:creationId xmlns:a16="http://schemas.microsoft.com/office/drawing/2014/main" id="{4B16D065-026F-C111-3F28-22C0C910CCA9}"/>
                </a:ext>
              </a:extLst>
            </p:cNvPr>
            <p:cNvCxnSpPr>
              <a:cxnSpLocks/>
            </p:cNvCxnSpPr>
            <p:nvPr/>
          </p:nvCxnSpPr>
          <p:spPr>
            <a:xfrm>
              <a:off x="1500045" y="1915872"/>
              <a:ext cx="6776758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69F3894-EB40-13E4-84CC-DEC55FB99875}"/>
                </a:ext>
              </a:extLst>
            </p:cNvPr>
            <p:cNvSpPr txBox="1"/>
            <p:nvPr/>
          </p:nvSpPr>
          <p:spPr>
            <a:xfrm>
              <a:off x="3746211" y="1595594"/>
              <a:ext cx="13861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Physical Span (p2p)</a:t>
              </a:r>
            </a:p>
          </p:txBody>
        </p:sp>
        <p:cxnSp>
          <p:nvCxnSpPr>
            <p:cNvPr id="58" name="直接连接符 55">
              <a:extLst>
                <a:ext uri="{FF2B5EF4-FFF2-40B4-BE49-F238E27FC236}">
                  <a16:creationId xmlns:a16="http://schemas.microsoft.com/office/drawing/2014/main" id="{377B4296-8299-1775-D38E-79238E956909}"/>
                </a:ext>
              </a:extLst>
            </p:cNvPr>
            <p:cNvCxnSpPr>
              <a:cxnSpLocks/>
            </p:cNvCxnSpPr>
            <p:nvPr/>
          </p:nvCxnSpPr>
          <p:spPr>
            <a:xfrm>
              <a:off x="1473433" y="1697320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124EB46-6707-6B54-0E8B-6A21A3CF44F1}"/>
                </a:ext>
              </a:extLst>
            </p:cNvPr>
            <p:cNvSpPr/>
            <p:nvPr/>
          </p:nvSpPr>
          <p:spPr>
            <a:xfrm>
              <a:off x="8508258" y="2911303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ODF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1E6FEEF-2AC8-F4A7-9F8A-220C109CBC66}"/>
                </a:ext>
              </a:extLst>
            </p:cNvPr>
            <p:cNvSpPr txBox="1"/>
            <p:nvPr/>
          </p:nvSpPr>
          <p:spPr>
            <a:xfrm>
              <a:off x="8590509" y="1857866"/>
              <a:ext cx="9653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 </a:t>
              </a:r>
            </a:p>
            <a:p>
              <a:pPr algn="ctr"/>
              <a:r>
                <a:rPr lang="en-US" sz="1200" dirty="0"/>
                <a:t>(single fiber)</a:t>
              </a:r>
            </a:p>
          </p:txBody>
        </p:sp>
        <p:sp>
          <p:nvSpPr>
            <p:cNvPr id="61" name="Trapezoid 60">
              <a:extLst>
                <a:ext uri="{FF2B5EF4-FFF2-40B4-BE49-F238E27FC236}">
                  <a16:creationId xmlns:a16="http://schemas.microsoft.com/office/drawing/2014/main" id="{5508811A-FD1F-0E78-80EE-5DCE2942F23F}"/>
                </a:ext>
              </a:extLst>
            </p:cNvPr>
            <p:cNvSpPr/>
            <p:nvPr/>
          </p:nvSpPr>
          <p:spPr>
            <a:xfrm rot="16200000">
              <a:off x="9992696" y="2413903"/>
              <a:ext cx="717149" cy="277907"/>
            </a:xfrm>
            <a:prstGeom prst="trapezoid">
              <a:avLst>
                <a:gd name="adj" fmla="val 40261"/>
              </a:avLst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WDM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0CB0D90-F8E2-63E0-7867-7AAE0ABC5C17}"/>
                </a:ext>
              </a:extLst>
            </p:cNvPr>
            <p:cNvSpPr/>
            <p:nvPr/>
          </p:nvSpPr>
          <p:spPr>
            <a:xfrm>
              <a:off x="9966988" y="1993392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NE-3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BEAF0AA-9C24-EAAF-52E8-61A698765B8F}"/>
                </a:ext>
              </a:extLst>
            </p:cNvPr>
            <p:cNvSpPr/>
            <p:nvPr/>
          </p:nvSpPr>
          <p:spPr>
            <a:xfrm>
              <a:off x="9048192" y="3091035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44864DA-71F8-E3C3-462A-B1A46D86B064}"/>
                </a:ext>
              </a:extLst>
            </p:cNvPr>
            <p:cNvSpPr/>
            <p:nvPr/>
          </p:nvSpPr>
          <p:spPr>
            <a:xfrm>
              <a:off x="9047938" y="3865662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8931728-E66D-C72D-D3C2-BF1D08C936F7}"/>
                </a:ext>
              </a:extLst>
            </p:cNvPr>
            <p:cNvSpPr/>
            <p:nvPr/>
          </p:nvSpPr>
          <p:spPr>
            <a:xfrm>
              <a:off x="8363512" y="1712304"/>
              <a:ext cx="2610750" cy="423034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CO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A15FBBE-1484-28FD-AD9A-5902FCA1E731}"/>
                </a:ext>
              </a:extLst>
            </p:cNvPr>
            <p:cNvCxnSpPr>
              <a:cxnSpLocks/>
              <a:stCxn id="75" idx="1"/>
              <a:endCxn id="64" idx="3"/>
            </p:cNvCxnSpPr>
            <p:nvPr/>
          </p:nvCxnSpPr>
          <p:spPr>
            <a:xfrm flipH="1" flipV="1">
              <a:off x="9294570" y="4002030"/>
              <a:ext cx="471440" cy="49690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A5998B-157C-0812-9E1E-73A811BCBF05}"/>
                </a:ext>
              </a:extLst>
            </p:cNvPr>
            <p:cNvCxnSpPr>
              <a:cxnSpLocks/>
              <a:stCxn id="74" idx="1"/>
              <a:endCxn id="63" idx="3"/>
            </p:cNvCxnSpPr>
            <p:nvPr/>
          </p:nvCxnSpPr>
          <p:spPr>
            <a:xfrm flipH="1">
              <a:off x="9294824" y="2555011"/>
              <a:ext cx="474234" cy="67239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839ECCA-3F3C-1C3B-9746-06C52361B903}"/>
                </a:ext>
              </a:extLst>
            </p:cNvPr>
            <p:cNvSpPr/>
            <p:nvPr/>
          </p:nvSpPr>
          <p:spPr>
            <a:xfrm>
              <a:off x="8381377" y="3492250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D2627DF-27F2-D6B3-021C-30824047043B}"/>
                </a:ext>
              </a:extLst>
            </p:cNvPr>
            <p:cNvSpPr txBox="1"/>
            <p:nvPr/>
          </p:nvSpPr>
          <p:spPr>
            <a:xfrm>
              <a:off x="8743300" y="3443952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665CEC7-2640-EA07-6BF6-F758C5CDCCEA}"/>
                </a:ext>
              </a:extLst>
            </p:cNvPr>
            <p:cNvSpPr txBox="1"/>
            <p:nvPr/>
          </p:nvSpPr>
          <p:spPr>
            <a:xfrm>
              <a:off x="10152222" y="3466185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2E863B2-674C-2B94-E1B9-B31AA5303E15}"/>
                </a:ext>
              </a:extLst>
            </p:cNvPr>
            <p:cNvSpPr txBox="1"/>
            <p:nvPr/>
          </p:nvSpPr>
          <p:spPr>
            <a:xfrm>
              <a:off x="9037560" y="3356901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72" name="Trapezoid 71">
              <a:extLst>
                <a:ext uri="{FF2B5EF4-FFF2-40B4-BE49-F238E27FC236}">
                  <a16:creationId xmlns:a16="http://schemas.microsoft.com/office/drawing/2014/main" id="{B2EFAA65-5F1B-C12E-2C38-5332F8CF7F97}"/>
                </a:ext>
              </a:extLst>
            </p:cNvPr>
            <p:cNvSpPr/>
            <p:nvPr/>
          </p:nvSpPr>
          <p:spPr>
            <a:xfrm rot="16200000">
              <a:off x="9989648" y="4357828"/>
              <a:ext cx="717149" cy="277907"/>
            </a:xfrm>
            <a:prstGeom prst="trapezoid">
              <a:avLst>
                <a:gd name="adj" fmla="val 40261"/>
              </a:avLst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WDM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0DFB7AF-4AB1-78D3-F9B1-4A6D66DE7B1F}"/>
                </a:ext>
              </a:extLst>
            </p:cNvPr>
            <p:cNvSpPr/>
            <p:nvPr/>
          </p:nvSpPr>
          <p:spPr>
            <a:xfrm>
              <a:off x="9963940" y="3937317"/>
              <a:ext cx="680975" cy="15238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NE-4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58BCC0F-205C-5804-B5C1-68C17C9D3B9A}"/>
                </a:ext>
              </a:extLst>
            </p:cNvPr>
            <p:cNvSpPr/>
            <p:nvPr/>
          </p:nvSpPr>
          <p:spPr>
            <a:xfrm>
              <a:off x="9769058" y="2384682"/>
              <a:ext cx="395861" cy="34065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A3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BBB37C3-1903-0E83-C47B-391B5CD8EC56}"/>
                </a:ext>
              </a:extLst>
            </p:cNvPr>
            <p:cNvSpPr/>
            <p:nvPr/>
          </p:nvSpPr>
          <p:spPr>
            <a:xfrm>
              <a:off x="9766010" y="4328607"/>
              <a:ext cx="395861" cy="34065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A1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E26E993-B964-6B4A-0F42-13955BC5F6A0}"/>
                </a:ext>
              </a:extLst>
            </p:cNvPr>
            <p:cNvCxnSpPr>
              <a:cxnSpLocks/>
            </p:cNvCxnSpPr>
            <p:nvPr/>
          </p:nvCxnSpPr>
          <p:spPr>
            <a:xfrm>
              <a:off x="6330646" y="3661353"/>
              <a:ext cx="201239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2672BBB-B514-88C4-5756-EF5D0BF0DA4D}"/>
                </a:ext>
              </a:extLst>
            </p:cNvPr>
            <p:cNvSpPr txBox="1"/>
            <p:nvPr/>
          </p:nvSpPr>
          <p:spPr>
            <a:xfrm>
              <a:off x="6996798" y="3808394"/>
              <a:ext cx="742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Joint box</a:t>
              </a:r>
            </a:p>
          </p:txBody>
        </p:sp>
        <p:cxnSp>
          <p:nvCxnSpPr>
            <p:cNvPr id="78" name="直接箭头连接符 225">
              <a:extLst>
                <a:ext uri="{FF2B5EF4-FFF2-40B4-BE49-F238E27FC236}">
                  <a16:creationId xmlns:a16="http://schemas.microsoft.com/office/drawing/2014/main" id="{39F2630E-C38B-4237-608F-9BADD573A859}"/>
                </a:ext>
              </a:extLst>
            </p:cNvPr>
            <p:cNvCxnSpPr>
              <a:cxnSpLocks/>
            </p:cNvCxnSpPr>
            <p:nvPr/>
          </p:nvCxnSpPr>
          <p:spPr>
            <a:xfrm>
              <a:off x="6377710" y="2768478"/>
              <a:ext cx="196532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55">
              <a:extLst>
                <a:ext uri="{FF2B5EF4-FFF2-40B4-BE49-F238E27FC236}">
                  <a16:creationId xmlns:a16="http://schemas.microsoft.com/office/drawing/2014/main" id="{86746A17-87BD-582C-B908-C3DCF28B8024}"/>
                </a:ext>
              </a:extLst>
            </p:cNvPr>
            <p:cNvCxnSpPr>
              <a:cxnSpLocks/>
            </p:cNvCxnSpPr>
            <p:nvPr/>
          </p:nvCxnSpPr>
          <p:spPr>
            <a:xfrm>
              <a:off x="8300713" y="1653667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E3607AD-B9C1-E31F-4FBB-69AE99885FFE}"/>
                </a:ext>
              </a:extLst>
            </p:cNvPr>
            <p:cNvSpPr/>
            <p:nvPr/>
          </p:nvSpPr>
          <p:spPr>
            <a:xfrm>
              <a:off x="5773648" y="4216424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6BA63EA-CB4C-949E-838E-185CD9A1E553}"/>
                </a:ext>
              </a:extLst>
            </p:cNvPr>
            <p:cNvCxnSpPr>
              <a:cxnSpLocks/>
              <a:stCxn id="36" idx="0"/>
            </p:cNvCxnSpPr>
            <p:nvPr/>
          </p:nvCxnSpPr>
          <p:spPr>
            <a:xfrm flipV="1">
              <a:off x="5864260" y="2299388"/>
              <a:ext cx="0" cy="62757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0306015-BC29-19F6-8057-7C934C9D57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8356" y="4502664"/>
              <a:ext cx="0" cy="62757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流程图: 直接访问存储器 218">
              <a:extLst>
                <a:ext uri="{FF2B5EF4-FFF2-40B4-BE49-F238E27FC236}">
                  <a16:creationId xmlns:a16="http://schemas.microsoft.com/office/drawing/2014/main" id="{67F62A98-CB3B-23EF-DD7A-94B91ABD2DC6}"/>
                </a:ext>
              </a:extLst>
            </p:cNvPr>
            <p:cNvSpPr/>
            <p:nvPr/>
          </p:nvSpPr>
          <p:spPr>
            <a:xfrm rot="5400000">
              <a:off x="5557160" y="4659135"/>
              <a:ext cx="663579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4" name="流程图: 直接访问存储器 218">
              <a:extLst>
                <a:ext uri="{FF2B5EF4-FFF2-40B4-BE49-F238E27FC236}">
                  <a16:creationId xmlns:a16="http://schemas.microsoft.com/office/drawing/2014/main" id="{6D854A67-1E75-1FBB-05A5-00596A75E01F}"/>
                </a:ext>
              </a:extLst>
            </p:cNvPr>
            <p:cNvSpPr/>
            <p:nvPr/>
          </p:nvSpPr>
          <p:spPr>
            <a:xfrm rot="16200000">
              <a:off x="5525942" y="2452832"/>
              <a:ext cx="663579" cy="296013"/>
            </a:xfrm>
            <a:prstGeom prst="flowChartMagneticDrum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36F7C2A-441D-5A47-8050-C74062EF9F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4147" y="3588005"/>
              <a:ext cx="52150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305D959-8AC2-046F-C2B5-F635888A02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90798" y="3646290"/>
              <a:ext cx="52150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5F2CD1E-D90B-06C3-BAAA-EAD8DADD0907}"/>
                </a:ext>
              </a:extLst>
            </p:cNvPr>
            <p:cNvSpPr/>
            <p:nvPr/>
          </p:nvSpPr>
          <p:spPr>
            <a:xfrm>
              <a:off x="5367515" y="3445145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23F65FB-C6EE-C896-9798-3A30159326BA}"/>
                </a:ext>
              </a:extLst>
            </p:cNvPr>
            <p:cNvSpPr/>
            <p:nvPr/>
          </p:nvSpPr>
          <p:spPr>
            <a:xfrm>
              <a:off x="6090154" y="3466191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3312E4A-D5D9-F020-C09F-0697052841E2}"/>
                </a:ext>
              </a:extLst>
            </p:cNvPr>
            <p:cNvCxnSpPr>
              <a:cxnSpLocks/>
              <a:stCxn id="80" idx="0"/>
            </p:cNvCxnSpPr>
            <p:nvPr/>
          </p:nvCxnSpPr>
          <p:spPr>
            <a:xfrm flipH="1" flipV="1">
              <a:off x="5613300" y="3704587"/>
              <a:ext cx="283664" cy="51183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2A497AC-9630-05DE-AA6E-3FDD3F31F7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5757" y="3224335"/>
              <a:ext cx="159693" cy="2544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70D0F52-04D0-609F-D1CB-F34C1D16B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9316" y="4492504"/>
              <a:ext cx="0" cy="62757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569BDA5-5783-F4E4-6464-B0F5148D57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4396" y="2303024"/>
              <a:ext cx="0" cy="62757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83C17AF-F60E-C26F-C533-0BE1E5B1756C}"/>
                </a:ext>
              </a:extLst>
            </p:cNvPr>
            <p:cNvCxnSpPr>
              <a:cxnSpLocks/>
            </p:cNvCxnSpPr>
            <p:nvPr/>
          </p:nvCxnSpPr>
          <p:spPr>
            <a:xfrm>
              <a:off x="6336786" y="3705353"/>
              <a:ext cx="201239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127562B-8C29-4502-8CCA-617232BD2C5B}"/>
                </a:ext>
              </a:extLst>
            </p:cNvPr>
            <p:cNvCxnSpPr>
              <a:cxnSpLocks/>
            </p:cNvCxnSpPr>
            <p:nvPr/>
          </p:nvCxnSpPr>
          <p:spPr>
            <a:xfrm>
              <a:off x="6330645" y="3562320"/>
              <a:ext cx="201239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流程图: 直接访问存储器 220">
              <a:extLst>
                <a:ext uri="{FF2B5EF4-FFF2-40B4-BE49-F238E27FC236}">
                  <a16:creationId xmlns:a16="http://schemas.microsoft.com/office/drawing/2014/main" id="{918FFC4E-B0C5-73BC-B8F6-DA9932D0DE76}"/>
                </a:ext>
              </a:extLst>
            </p:cNvPr>
            <p:cNvSpPr/>
            <p:nvPr/>
          </p:nvSpPr>
          <p:spPr>
            <a:xfrm>
              <a:off x="7194642" y="3426334"/>
              <a:ext cx="284401" cy="408404"/>
            </a:xfrm>
            <a:prstGeom prst="flowChartMagneticDrum">
              <a:avLst/>
            </a:prstGeom>
            <a:solidFill>
              <a:srgbClr val="00B0F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12"/>
              <a:endParaRPr lang="zh-CN" altLang="en-US" sz="10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A9031F8-3BA0-3CD0-9EB1-E15DD9FDEF0A}"/>
                </a:ext>
              </a:extLst>
            </p:cNvPr>
            <p:cNvCxnSpPr>
              <a:cxnSpLocks/>
            </p:cNvCxnSpPr>
            <p:nvPr/>
          </p:nvCxnSpPr>
          <p:spPr>
            <a:xfrm>
              <a:off x="5951272" y="3208869"/>
              <a:ext cx="129488" cy="29125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4AC9CB8-97AB-4B8B-2ABC-D19AEFD7DA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280" y="3726233"/>
              <a:ext cx="94577" cy="47722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D90BE3B-E98C-0414-A0AB-95AAC02687FA}"/>
                </a:ext>
              </a:extLst>
            </p:cNvPr>
            <p:cNvSpPr/>
            <p:nvPr/>
          </p:nvSpPr>
          <p:spPr>
            <a:xfrm>
              <a:off x="5922050" y="2931160"/>
              <a:ext cx="26630" cy="284480"/>
            </a:xfrm>
            <a:custGeom>
              <a:avLst/>
              <a:gdLst>
                <a:gd name="connsiteX0" fmla="*/ 6310 w 26630"/>
                <a:gd name="connsiteY0" fmla="*/ 0 h 284480"/>
                <a:gd name="connsiteX1" fmla="*/ 1230 w 26630"/>
                <a:gd name="connsiteY1" fmla="*/ 152400 h 284480"/>
                <a:gd name="connsiteX2" fmla="*/ 26630 w 26630"/>
                <a:gd name="connsiteY2" fmla="*/ 284480 h 28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30" h="284480">
                  <a:moveTo>
                    <a:pt x="6310" y="0"/>
                  </a:moveTo>
                  <a:cubicBezTo>
                    <a:pt x="2076" y="52493"/>
                    <a:pt x="-2157" y="104987"/>
                    <a:pt x="1230" y="152400"/>
                  </a:cubicBezTo>
                  <a:cubicBezTo>
                    <a:pt x="4617" y="199813"/>
                    <a:pt x="15623" y="242146"/>
                    <a:pt x="26630" y="28448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ED88DE6-FDDE-D64F-3808-26B725FACF85}"/>
                </a:ext>
              </a:extLst>
            </p:cNvPr>
            <p:cNvSpPr/>
            <p:nvPr/>
          </p:nvSpPr>
          <p:spPr>
            <a:xfrm>
              <a:off x="5796280" y="2941320"/>
              <a:ext cx="66040" cy="264160"/>
            </a:xfrm>
            <a:custGeom>
              <a:avLst/>
              <a:gdLst>
                <a:gd name="connsiteX0" fmla="*/ 0 w 66040"/>
                <a:gd name="connsiteY0" fmla="*/ 264160 h 264160"/>
                <a:gd name="connsiteX1" fmla="*/ 20320 w 66040"/>
                <a:gd name="connsiteY1" fmla="*/ 203200 h 264160"/>
                <a:gd name="connsiteX2" fmla="*/ 55880 w 66040"/>
                <a:gd name="connsiteY2" fmla="*/ 142240 h 264160"/>
                <a:gd name="connsiteX3" fmla="*/ 66040 w 66040"/>
                <a:gd name="connsiteY3" fmla="*/ 0 h 26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40" h="264160">
                  <a:moveTo>
                    <a:pt x="0" y="264160"/>
                  </a:moveTo>
                  <a:cubicBezTo>
                    <a:pt x="5503" y="243840"/>
                    <a:pt x="11007" y="223520"/>
                    <a:pt x="20320" y="203200"/>
                  </a:cubicBezTo>
                  <a:cubicBezTo>
                    <a:pt x="29633" y="182880"/>
                    <a:pt x="48260" y="176107"/>
                    <a:pt x="55880" y="142240"/>
                  </a:cubicBezTo>
                  <a:cubicBezTo>
                    <a:pt x="63500" y="108373"/>
                    <a:pt x="64770" y="54186"/>
                    <a:pt x="6604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FE05E1B4-6CF4-AF84-32F1-610BB36E68F5}"/>
                </a:ext>
              </a:extLst>
            </p:cNvPr>
            <p:cNvSpPr/>
            <p:nvPr/>
          </p:nvSpPr>
          <p:spPr>
            <a:xfrm>
              <a:off x="6085840" y="3489960"/>
              <a:ext cx="243840" cy="66040"/>
            </a:xfrm>
            <a:custGeom>
              <a:avLst/>
              <a:gdLst>
                <a:gd name="connsiteX0" fmla="*/ 0 w 243840"/>
                <a:gd name="connsiteY0" fmla="*/ 0 h 66040"/>
                <a:gd name="connsiteX1" fmla="*/ 137160 w 243840"/>
                <a:gd name="connsiteY1" fmla="*/ 45720 h 66040"/>
                <a:gd name="connsiteX2" fmla="*/ 243840 w 243840"/>
                <a:gd name="connsiteY2" fmla="*/ 66040 h 66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840" h="66040">
                  <a:moveTo>
                    <a:pt x="0" y="0"/>
                  </a:moveTo>
                  <a:cubicBezTo>
                    <a:pt x="48260" y="17356"/>
                    <a:pt x="96520" y="34713"/>
                    <a:pt x="137160" y="45720"/>
                  </a:cubicBezTo>
                  <a:cubicBezTo>
                    <a:pt x="177800" y="56727"/>
                    <a:pt x="219287" y="56727"/>
                    <a:pt x="243840" y="6604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029D924-44D4-F03F-3D3A-72FB7161D522}"/>
                </a:ext>
              </a:extLst>
            </p:cNvPr>
            <p:cNvSpPr/>
            <p:nvPr/>
          </p:nvSpPr>
          <p:spPr>
            <a:xfrm>
              <a:off x="6101080" y="3692260"/>
              <a:ext cx="243840" cy="31380"/>
            </a:xfrm>
            <a:custGeom>
              <a:avLst/>
              <a:gdLst>
                <a:gd name="connsiteX0" fmla="*/ 0 w 243840"/>
                <a:gd name="connsiteY0" fmla="*/ 31380 h 31380"/>
                <a:gd name="connsiteX1" fmla="*/ 106680 w 243840"/>
                <a:gd name="connsiteY1" fmla="*/ 900 h 31380"/>
                <a:gd name="connsiteX2" fmla="*/ 243840 w 243840"/>
                <a:gd name="connsiteY2" fmla="*/ 11060 h 31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840" h="31380">
                  <a:moveTo>
                    <a:pt x="0" y="31380"/>
                  </a:moveTo>
                  <a:cubicBezTo>
                    <a:pt x="33020" y="17833"/>
                    <a:pt x="66040" y="4287"/>
                    <a:pt x="106680" y="900"/>
                  </a:cubicBezTo>
                  <a:cubicBezTo>
                    <a:pt x="147320" y="-2487"/>
                    <a:pt x="195580" y="4286"/>
                    <a:pt x="243840" y="1106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9DEDD32-AEB7-F000-CADA-8B41CDE93D8F}"/>
                </a:ext>
              </a:extLst>
            </p:cNvPr>
            <p:cNvSpPr/>
            <p:nvPr/>
          </p:nvSpPr>
          <p:spPr>
            <a:xfrm>
              <a:off x="6085840" y="3581400"/>
              <a:ext cx="259080" cy="15240"/>
            </a:xfrm>
            <a:custGeom>
              <a:avLst/>
              <a:gdLst>
                <a:gd name="connsiteX0" fmla="*/ 0 w 259080"/>
                <a:gd name="connsiteY0" fmla="*/ 0 h 15240"/>
                <a:gd name="connsiteX1" fmla="*/ 259080 w 259080"/>
                <a:gd name="connsiteY1" fmla="*/ 15240 h 15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9080" h="15240">
                  <a:moveTo>
                    <a:pt x="0" y="0"/>
                  </a:moveTo>
                  <a:lnTo>
                    <a:pt x="259080" y="1524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5B86C5F-5BBA-44B2-2F7B-85E6176D7720}"/>
                </a:ext>
              </a:extLst>
            </p:cNvPr>
            <p:cNvSpPr/>
            <p:nvPr/>
          </p:nvSpPr>
          <p:spPr>
            <a:xfrm>
              <a:off x="6090920" y="3642360"/>
              <a:ext cx="264160" cy="20320"/>
            </a:xfrm>
            <a:custGeom>
              <a:avLst/>
              <a:gdLst>
                <a:gd name="connsiteX0" fmla="*/ 0 w 264160"/>
                <a:gd name="connsiteY0" fmla="*/ 0 h 20320"/>
                <a:gd name="connsiteX1" fmla="*/ 264160 w 264160"/>
                <a:gd name="connsiteY1" fmla="*/ 20320 h 20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160" h="20320">
                  <a:moveTo>
                    <a:pt x="0" y="0"/>
                  </a:moveTo>
                  <a:lnTo>
                    <a:pt x="264160" y="2032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50EC518-B4C6-5D09-0BD1-5DAB40F5641C}"/>
                </a:ext>
              </a:extLst>
            </p:cNvPr>
            <p:cNvSpPr/>
            <p:nvPr/>
          </p:nvSpPr>
          <p:spPr>
            <a:xfrm>
              <a:off x="5379720" y="3474720"/>
              <a:ext cx="259080" cy="10160"/>
            </a:xfrm>
            <a:custGeom>
              <a:avLst/>
              <a:gdLst>
                <a:gd name="connsiteX0" fmla="*/ 0 w 259080"/>
                <a:gd name="connsiteY0" fmla="*/ 10160 h 10160"/>
                <a:gd name="connsiteX1" fmla="*/ 259080 w 259080"/>
                <a:gd name="connsiteY1" fmla="*/ 0 h 1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9080" h="10160">
                  <a:moveTo>
                    <a:pt x="0" y="10160"/>
                  </a:moveTo>
                  <a:lnTo>
                    <a:pt x="25908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8E0675E1-1CCC-912C-1095-1732243680B7}"/>
                </a:ext>
              </a:extLst>
            </p:cNvPr>
            <p:cNvSpPr/>
            <p:nvPr/>
          </p:nvSpPr>
          <p:spPr>
            <a:xfrm>
              <a:off x="5379720" y="3540760"/>
              <a:ext cx="272638" cy="50119"/>
            </a:xfrm>
            <a:custGeom>
              <a:avLst/>
              <a:gdLst>
                <a:gd name="connsiteX0" fmla="*/ 0 w 272638"/>
                <a:gd name="connsiteY0" fmla="*/ 0 h 50119"/>
                <a:gd name="connsiteX1" fmla="*/ 254000 w 272638"/>
                <a:gd name="connsiteY1" fmla="*/ 45720 h 50119"/>
                <a:gd name="connsiteX2" fmla="*/ 233680 w 272638"/>
                <a:gd name="connsiteY2" fmla="*/ 45720 h 5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2638" h="50119">
                  <a:moveTo>
                    <a:pt x="0" y="0"/>
                  </a:moveTo>
                  <a:lnTo>
                    <a:pt x="254000" y="45720"/>
                  </a:lnTo>
                  <a:cubicBezTo>
                    <a:pt x="292947" y="53340"/>
                    <a:pt x="263313" y="49530"/>
                    <a:pt x="233680" y="4572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8F00FF5-6633-EB9C-9CCC-4722BD114A7C}"/>
                </a:ext>
              </a:extLst>
            </p:cNvPr>
            <p:cNvSpPr/>
            <p:nvPr/>
          </p:nvSpPr>
          <p:spPr>
            <a:xfrm>
              <a:off x="5369560" y="3591560"/>
              <a:ext cx="274320" cy="55880"/>
            </a:xfrm>
            <a:custGeom>
              <a:avLst/>
              <a:gdLst>
                <a:gd name="connsiteX0" fmla="*/ 0 w 274320"/>
                <a:gd name="connsiteY0" fmla="*/ 0 h 55880"/>
                <a:gd name="connsiteX1" fmla="*/ 274320 w 274320"/>
                <a:gd name="connsiteY1" fmla="*/ 55880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4320" h="55880">
                  <a:moveTo>
                    <a:pt x="0" y="0"/>
                  </a:moveTo>
                  <a:lnTo>
                    <a:pt x="274320" y="5588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7022E4F-7EA7-C68B-F386-7FD1572A96BC}"/>
                </a:ext>
              </a:extLst>
            </p:cNvPr>
            <p:cNvSpPr/>
            <p:nvPr/>
          </p:nvSpPr>
          <p:spPr>
            <a:xfrm>
              <a:off x="5369560" y="3647440"/>
              <a:ext cx="254000" cy="55880"/>
            </a:xfrm>
            <a:custGeom>
              <a:avLst/>
              <a:gdLst>
                <a:gd name="connsiteX0" fmla="*/ 0 w 254000"/>
                <a:gd name="connsiteY0" fmla="*/ 0 h 55880"/>
                <a:gd name="connsiteX1" fmla="*/ 254000 w 254000"/>
                <a:gd name="connsiteY1" fmla="*/ 55880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4000" h="55880">
                  <a:moveTo>
                    <a:pt x="0" y="0"/>
                  </a:moveTo>
                  <a:lnTo>
                    <a:pt x="254000" y="5588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08F7C83-A9A5-6D13-F4C0-E138B533019E}"/>
                </a:ext>
              </a:extLst>
            </p:cNvPr>
            <p:cNvSpPr txBox="1"/>
            <p:nvPr/>
          </p:nvSpPr>
          <p:spPr>
            <a:xfrm>
              <a:off x="7088959" y="2478974"/>
              <a:ext cx="5325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7F87B29-9932-0EE5-ACFA-66F4E0E27641}"/>
                </a:ext>
              </a:extLst>
            </p:cNvPr>
            <p:cNvSpPr txBox="1"/>
            <p:nvPr/>
          </p:nvSpPr>
          <p:spPr>
            <a:xfrm>
              <a:off x="6375108" y="2813947"/>
              <a:ext cx="734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</a:t>
              </a:r>
            </a:p>
            <a:p>
              <a:pPr algn="ctr"/>
              <a:r>
                <a:rPr lang="en-US" sz="1200" dirty="0"/>
                <a:t>Segment</a:t>
              </a:r>
            </a:p>
          </p:txBody>
        </p:sp>
        <p:cxnSp>
          <p:nvCxnSpPr>
            <p:cNvPr id="110" name="直接箭头连接符 225">
              <a:extLst>
                <a:ext uri="{FF2B5EF4-FFF2-40B4-BE49-F238E27FC236}">
                  <a16:creationId xmlns:a16="http://schemas.microsoft.com/office/drawing/2014/main" id="{7F82B27D-13EC-034F-3D06-2866207FBB10}"/>
                </a:ext>
              </a:extLst>
            </p:cNvPr>
            <p:cNvCxnSpPr>
              <a:cxnSpLocks/>
            </p:cNvCxnSpPr>
            <p:nvPr/>
          </p:nvCxnSpPr>
          <p:spPr>
            <a:xfrm>
              <a:off x="6356890" y="3272523"/>
              <a:ext cx="9341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59B71B6-26DC-A588-7AE7-6B7555C318C0}"/>
                </a:ext>
              </a:extLst>
            </p:cNvPr>
            <p:cNvSpPr txBox="1"/>
            <p:nvPr/>
          </p:nvSpPr>
          <p:spPr>
            <a:xfrm>
              <a:off x="7591052" y="2818839"/>
              <a:ext cx="734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Cable</a:t>
              </a:r>
            </a:p>
            <a:p>
              <a:pPr algn="ctr"/>
              <a:r>
                <a:rPr lang="en-US" sz="1200" dirty="0"/>
                <a:t>Segment</a:t>
              </a:r>
            </a:p>
          </p:txBody>
        </p:sp>
        <p:cxnSp>
          <p:nvCxnSpPr>
            <p:cNvPr id="112" name="直接箭头连接符 225">
              <a:extLst>
                <a:ext uri="{FF2B5EF4-FFF2-40B4-BE49-F238E27FC236}">
                  <a16:creationId xmlns:a16="http://schemas.microsoft.com/office/drawing/2014/main" id="{E304107E-278C-80DA-CBE2-89677A259BD5}"/>
                </a:ext>
              </a:extLst>
            </p:cNvPr>
            <p:cNvCxnSpPr>
              <a:cxnSpLocks/>
            </p:cNvCxnSpPr>
            <p:nvPr/>
          </p:nvCxnSpPr>
          <p:spPr>
            <a:xfrm>
              <a:off x="7368246" y="3270396"/>
              <a:ext cx="98966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55">
              <a:extLst>
                <a:ext uri="{FF2B5EF4-FFF2-40B4-BE49-F238E27FC236}">
                  <a16:creationId xmlns:a16="http://schemas.microsoft.com/office/drawing/2014/main" id="{83372F86-77B5-03F2-5BAC-3D376E10480E}"/>
                </a:ext>
              </a:extLst>
            </p:cNvPr>
            <p:cNvCxnSpPr>
              <a:cxnSpLocks/>
            </p:cNvCxnSpPr>
            <p:nvPr/>
          </p:nvCxnSpPr>
          <p:spPr>
            <a:xfrm>
              <a:off x="7324392" y="2870711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55">
              <a:extLst>
                <a:ext uri="{FF2B5EF4-FFF2-40B4-BE49-F238E27FC236}">
                  <a16:creationId xmlns:a16="http://schemas.microsoft.com/office/drawing/2014/main" id="{242D2F63-B19E-289B-E158-CD0FAEE65906}"/>
                </a:ext>
              </a:extLst>
            </p:cNvPr>
            <p:cNvCxnSpPr>
              <a:cxnSpLocks/>
            </p:cNvCxnSpPr>
            <p:nvPr/>
          </p:nvCxnSpPr>
          <p:spPr>
            <a:xfrm>
              <a:off x="8339634" y="2613175"/>
              <a:ext cx="0" cy="71401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55">
              <a:extLst>
                <a:ext uri="{FF2B5EF4-FFF2-40B4-BE49-F238E27FC236}">
                  <a16:creationId xmlns:a16="http://schemas.microsoft.com/office/drawing/2014/main" id="{20328598-AA73-81ED-B235-607994009528}"/>
                </a:ext>
              </a:extLst>
            </p:cNvPr>
            <p:cNvCxnSpPr>
              <a:cxnSpLocks/>
            </p:cNvCxnSpPr>
            <p:nvPr/>
          </p:nvCxnSpPr>
          <p:spPr>
            <a:xfrm>
              <a:off x="6330646" y="2613175"/>
              <a:ext cx="0" cy="76707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B444C85-04CA-64CE-BE27-D5369C12EA81}"/>
                </a:ext>
              </a:extLst>
            </p:cNvPr>
            <p:cNvSpPr/>
            <p:nvPr/>
          </p:nvSpPr>
          <p:spPr>
            <a:xfrm>
              <a:off x="5857240" y="4221480"/>
              <a:ext cx="20320" cy="248920"/>
            </a:xfrm>
            <a:custGeom>
              <a:avLst/>
              <a:gdLst>
                <a:gd name="connsiteX0" fmla="*/ 20320 w 20320"/>
                <a:gd name="connsiteY0" fmla="*/ 0 h 248920"/>
                <a:gd name="connsiteX1" fmla="*/ 0 w 20320"/>
                <a:gd name="connsiteY1" fmla="*/ 248920 h 24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20" h="248920">
                  <a:moveTo>
                    <a:pt x="20320" y="0"/>
                  </a:moveTo>
                  <a:lnTo>
                    <a:pt x="0" y="24892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3BEEEA6-0AFE-16CC-F45E-A2AA3219D697}"/>
                </a:ext>
              </a:extLst>
            </p:cNvPr>
            <p:cNvSpPr/>
            <p:nvPr/>
          </p:nvSpPr>
          <p:spPr>
            <a:xfrm>
              <a:off x="5924187" y="4217347"/>
              <a:ext cx="45719" cy="270889"/>
            </a:xfrm>
            <a:custGeom>
              <a:avLst/>
              <a:gdLst>
                <a:gd name="connsiteX0" fmla="*/ 20320 w 20320"/>
                <a:gd name="connsiteY0" fmla="*/ 0 h 248920"/>
                <a:gd name="connsiteX1" fmla="*/ 0 w 20320"/>
                <a:gd name="connsiteY1" fmla="*/ 248920 h 24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20" h="248920">
                  <a:moveTo>
                    <a:pt x="20320" y="0"/>
                  </a:moveTo>
                  <a:lnTo>
                    <a:pt x="0" y="24892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08D5AFE-B89B-3164-CF22-17974680DD17}"/>
                </a:ext>
              </a:extLst>
            </p:cNvPr>
            <p:cNvSpPr txBox="1"/>
            <p:nvPr/>
          </p:nvSpPr>
          <p:spPr>
            <a:xfrm>
              <a:off x="276226" y="5460395"/>
              <a:ext cx="14904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(DWDM)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F58A47F-6C68-E544-2D38-C130C116CA50}"/>
                </a:ext>
              </a:extLst>
            </p:cNvPr>
            <p:cNvSpPr txBox="1"/>
            <p:nvPr/>
          </p:nvSpPr>
          <p:spPr>
            <a:xfrm>
              <a:off x="9603012" y="5419880"/>
              <a:ext cx="14904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(DWDM)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F438B54-76EE-558C-7120-31BE65ECB68F}"/>
                </a:ext>
              </a:extLst>
            </p:cNvPr>
            <p:cNvSpPr txBox="1"/>
            <p:nvPr/>
          </p:nvSpPr>
          <p:spPr>
            <a:xfrm>
              <a:off x="3037893" y="4830928"/>
              <a:ext cx="358932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Passive devices: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ODF (Optical Distribution Frame)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Joint box (splicing/connector)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FDT (Fiber Distribution Terminal)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Cable/cable segments</a:t>
              </a:r>
            </a:p>
          </p:txBody>
        </p:sp>
      </p:grpSp>
      <p:sp>
        <p:nvSpPr>
          <p:cNvPr id="122" name="Footer Placeholder 3">
            <a:extLst>
              <a:ext uri="{FF2B5EF4-FFF2-40B4-BE49-F238E27FC236}">
                <a16:creationId xmlns:a16="http://schemas.microsoft.com/office/drawing/2014/main" id="{64D20697-9F4C-E9D6-C5DA-EAF7E65F9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  <p:sp>
        <p:nvSpPr>
          <p:cNvPr id="123" name="Date Placeholder 1">
            <a:extLst>
              <a:ext uri="{FF2B5EF4-FFF2-40B4-BE49-F238E27FC236}">
                <a16:creationId xmlns:a16="http://schemas.microsoft.com/office/drawing/2014/main" id="{70FA675F-B4BF-8898-4750-654985F0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</p:spTree>
    <p:extLst>
      <p:ext uri="{BB962C8B-B14F-4D97-AF65-F5344CB8AC3E}">
        <p14:creationId xmlns:p14="http://schemas.microsoft.com/office/powerpoint/2010/main" val="3039037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8A824-A192-0CFF-306B-1645E977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3275-FB15-9D46-5C97-BCBEC5F7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Passive Infrastructure – Microwave</a:t>
            </a:r>
            <a:br>
              <a:rPr lang="en-US" dirty="0"/>
            </a:br>
            <a:r>
              <a:rPr lang="en-US" dirty="0"/>
              <a:t>(To be further discussed)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E011C-9A8F-E338-A5F9-5626FFB7D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A69EFE04-A922-341D-9E8C-FE2CDC51288C}"/>
              </a:ext>
            </a:extLst>
          </p:cNvPr>
          <p:cNvGrpSpPr/>
          <p:nvPr/>
        </p:nvGrpSpPr>
        <p:grpSpPr>
          <a:xfrm>
            <a:off x="619887" y="1690688"/>
            <a:ext cx="10733913" cy="2559831"/>
            <a:chOff x="494919" y="1939017"/>
            <a:chExt cx="11566211" cy="442759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B482508-BD8D-B688-71F2-92E7F6712637}"/>
                </a:ext>
              </a:extLst>
            </p:cNvPr>
            <p:cNvSpPr/>
            <p:nvPr/>
          </p:nvSpPr>
          <p:spPr>
            <a:xfrm>
              <a:off x="5487564" y="2424083"/>
              <a:ext cx="1441329" cy="1778461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900" dirty="0" err="1">
                  <a:solidFill>
                    <a:schemeClr val="tx1"/>
                  </a:solidFill>
                </a:rPr>
                <a:t>Atmospheric</a:t>
              </a:r>
              <a:r>
                <a:rPr lang="de-DE" sz="900" dirty="0">
                  <a:solidFill>
                    <a:schemeClr val="tx1"/>
                  </a:solidFill>
                </a:rPr>
                <a:t>-link</a:t>
              </a:r>
              <a:endParaRPr lang="LID4096" sz="900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BDC7931-6A15-E046-5FEB-93FF395FADFE}"/>
                </a:ext>
              </a:extLst>
            </p:cNvPr>
            <p:cNvSpPr/>
            <p:nvPr/>
          </p:nvSpPr>
          <p:spPr>
            <a:xfrm>
              <a:off x="1906160" y="3385590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500" dirty="0" err="1">
                  <a:solidFill>
                    <a:schemeClr val="tx1"/>
                  </a:solidFill>
                </a:rPr>
                <a:t>waveguide</a:t>
              </a:r>
              <a:endParaRPr lang="LID4096" sz="500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5FD4169-ABC2-F3D5-7B70-EDBD89CA89AA}"/>
                </a:ext>
              </a:extLst>
            </p:cNvPr>
            <p:cNvSpPr/>
            <p:nvPr/>
          </p:nvSpPr>
          <p:spPr>
            <a:xfrm>
              <a:off x="3033850" y="2712689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500">
                  <a:solidFill>
                    <a:schemeClr val="tx1"/>
                  </a:solidFill>
                </a:rPr>
                <a:t>waveguide</a:t>
              </a:r>
              <a:endParaRPr lang="LID4096" sz="500"/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B0ED7851-DCAF-4ED1-FCEE-AAE70F45B3F0}"/>
                </a:ext>
              </a:extLst>
            </p:cNvPr>
            <p:cNvSpPr/>
            <p:nvPr/>
          </p:nvSpPr>
          <p:spPr>
            <a:xfrm>
              <a:off x="1881924" y="2705988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500" dirty="0" err="1">
                  <a:solidFill>
                    <a:schemeClr val="tx1"/>
                  </a:solidFill>
                </a:rPr>
                <a:t>waveguide</a:t>
              </a:r>
              <a:endParaRPr lang="LID4096" sz="500" dirty="0">
                <a:solidFill>
                  <a:schemeClr val="tx1"/>
                </a:solidFill>
              </a:endParaRPr>
            </a:p>
          </p:txBody>
        </p: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9B70C29A-54F2-9877-AB35-3DFB224DB237}"/>
                </a:ext>
              </a:extLst>
            </p:cNvPr>
            <p:cNvSpPr/>
            <p:nvPr/>
          </p:nvSpPr>
          <p:spPr>
            <a:xfrm>
              <a:off x="3064220" y="3373793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500">
                  <a:solidFill>
                    <a:schemeClr val="tx1"/>
                  </a:solidFill>
                </a:rPr>
                <a:t>waveguide</a:t>
              </a:r>
              <a:endParaRPr lang="LID4096" sz="500"/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C9C543C2-4432-CF56-2042-E659FBDAD204}"/>
                </a:ext>
              </a:extLst>
            </p:cNvPr>
            <p:cNvGrpSpPr/>
            <p:nvPr/>
          </p:nvGrpSpPr>
          <p:grpSpPr>
            <a:xfrm>
              <a:off x="4543157" y="2385689"/>
              <a:ext cx="727395" cy="1520800"/>
              <a:chOff x="4345493" y="2571265"/>
              <a:chExt cx="1134289" cy="1520800"/>
            </a:xfrm>
            <a:solidFill>
              <a:schemeClr val="bg1"/>
            </a:solidFill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7DB1A95B-8280-D6E4-F126-4DE851845936}"/>
                  </a:ext>
                </a:extLst>
              </p:cNvPr>
              <p:cNvSpPr/>
              <p:nvPr/>
            </p:nvSpPr>
            <p:spPr>
              <a:xfrm>
                <a:off x="4345493" y="2571265"/>
                <a:ext cx="990600" cy="1501265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 dirty="0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2BF781E-8F01-74AE-5ABB-0098EF692672}"/>
                  </a:ext>
                </a:extLst>
              </p:cNvPr>
              <p:cNvSpPr/>
              <p:nvPr/>
            </p:nvSpPr>
            <p:spPr>
              <a:xfrm>
                <a:off x="4489182" y="2590800"/>
                <a:ext cx="990600" cy="1501265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 dirty="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B9F8F28E-3C3E-7822-2358-E5682753A3CB}"/>
                </a:ext>
              </a:extLst>
            </p:cNvPr>
            <p:cNvGrpSpPr/>
            <p:nvPr/>
          </p:nvGrpSpPr>
          <p:grpSpPr>
            <a:xfrm>
              <a:off x="4028841" y="2866426"/>
              <a:ext cx="514315" cy="539790"/>
              <a:chOff x="4094649" y="3042235"/>
              <a:chExt cx="514315" cy="539790"/>
            </a:xfrm>
            <a:solidFill>
              <a:schemeClr val="accent4"/>
            </a:solidFill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AC8F91FA-AAAD-5E65-B29D-324A4DAD8984}"/>
                  </a:ext>
                </a:extLst>
              </p:cNvPr>
              <p:cNvSpPr/>
              <p:nvPr/>
            </p:nvSpPr>
            <p:spPr>
              <a:xfrm>
                <a:off x="4493419" y="3042235"/>
                <a:ext cx="115545" cy="539790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9FF30A3-AA13-B043-1C9A-A9540B778202}"/>
                  </a:ext>
                </a:extLst>
              </p:cNvPr>
              <p:cNvSpPr/>
              <p:nvPr/>
            </p:nvSpPr>
            <p:spPr>
              <a:xfrm>
                <a:off x="4094649" y="3172986"/>
                <a:ext cx="398770" cy="278288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500" b="1" dirty="0">
                    <a:solidFill>
                      <a:schemeClr val="tx1"/>
                    </a:solidFill>
                  </a:rPr>
                  <a:t>OMT</a:t>
                </a:r>
                <a:endParaRPr lang="LID4096" sz="5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88A7CAA5-223C-ED99-A9E0-87CC61284E67}"/>
                  </a:ext>
                </a:extLst>
              </p:cNvPr>
              <p:cNvSpPr/>
              <p:nvPr/>
            </p:nvSpPr>
            <p:spPr>
              <a:xfrm>
                <a:off x="4222750" y="3042235"/>
                <a:ext cx="126980" cy="130751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CF50114D-B773-C331-CF26-3108D0383545}"/>
                  </a:ext>
                </a:extLst>
              </p:cNvPr>
              <p:cNvSpPr/>
              <p:nvPr/>
            </p:nvSpPr>
            <p:spPr>
              <a:xfrm>
                <a:off x="4231105" y="3451274"/>
                <a:ext cx="126980" cy="130751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/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D41BB85-7706-1AD2-1127-38811A75EDBF}"/>
                </a:ext>
              </a:extLst>
            </p:cNvPr>
            <p:cNvSpPr txBox="1"/>
            <p:nvPr/>
          </p:nvSpPr>
          <p:spPr>
            <a:xfrm>
              <a:off x="2709725" y="2605673"/>
              <a:ext cx="245454" cy="452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…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9DC69DE-4650-4342-0E33-611A75543B9F}"/>
                </a:ext>
              </a:extLst>
            </p:cNvPr>
            <p:cNvSpPr txBox="1"/>
            <p:nvPr/>
          </p:nvSpPr>
          <p:spPr>
            <a:xfrm>
              <a:off x="2693246" y="3273648"/>
              <a:ext cx="245454" cy="452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…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66544EAF-7FEE-1695-5B86-DC4A87DFA1A1}"/>
                </a:ext>
              </a:extLst>
            </p:cNvPr>
            <p:cNvGrpSpPr/>
            <p:nvPr/>
          </p:nvGrpSpPr>
          <p:grpSpPr>
            <a:xfrm>
              <a:off x="5831728" y="2788931"/>
              <a:ext cx="566687" cy="783789"/>
              <a:chOff x="6159150" y="4092338"/>
              <a:chExt cx="566687" cy="783789"/>
            </a:xfrm>
          </p:grpSpPr>
          <p:sp>
            <p:nvSpPr>
              <p:cNvPr id="135" name="Block Arc 134">
                <a:extLst>
                  <a:ext uri="{FF2B5EF4-FFF2-40B4-BE49-F238E27FC236}">
                    <a16:creationId xmlns:a16="http://schemas.microsoft.com/office/drawing/2014/main" id="{27C4F79F-18A4-8C6B-26A7-2C1052D21348}"/>
                  </a:ext>
                </a:extLst>
              </p:cNvPr>
              <p:cNvSpPr/>
              <p:nvPr/>
            </p:nvSpPr>
            <p:spPr>
              <a:xfrm rot="5400000">
                <a:off x="6092293" y="4242583"/>
                <a:ext cx="783789" cy="483299"/>
              </a:xfrm>
              <a:prstGeom prst="blockArc">
                <a:avLst>
                  <a:gd name="adj1" fmla="val 10800000"/>
                  <a:gd name="adj2" fmla="val 21070430"/>
                  <a:gd name="adj3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Block Arc 135">
                <a:extLst>
                  <a:ext uri="{FF2B5EF4-FFF2-40B4-BE49-F238E27FC236}">
                    <a16:creationId xmlns:a16="http://schemas.microsoft.com/office/drawing/2014/main" id="{30AE59A2-8063-FE06-7B81-353E2119DA7F}"/>
                  </a:ext>
                </a:extLst>
              </p:cNvPr>
              <p:cNvSpPr/>
              <p:nvPr/>
            </p:nvSpPr>
            <p:spPr>
              <a:xfrm rot="5400000">
                <a:off x="6058675" y="4335456"/>
                <a:ext cx="467164" cy="266213"/>
              </a:xfrm>
              <a:prstGeom prst="blockArc">
                <a:avLst>
                  <a:gd name="adj1" fmla="val 10800000"/>
                  <a:gd name="adj2" fmla="val 21070430"/>
                  <a:gd name="adj3" fmla="val 0"/>
                </a:avLst>
              </a:prstGeom>
              <a:ln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Block Arc 136">
                <a:extLst>
                  <a:ext uri="{FF2B5EF4-FFF2-40B4-BE49-F238E27FC236}">
                    <a16:creationId xmlns:a16="http://schemas.microsoft.com/office/drawing/2014/main" id="{58A240E5-CCA5-D384-032A-E90FE44D516A}"/>
                  </a:ext>
                </a:extLst>
              </p:cNvPr>
              <p:cNvSpPr/>
              <p:nvPr/>
            </p:nvSpPr>
            <p:spPr>
              <a:xfrm rot="5400000">
                <a:off x="6116113" y="4286638"/>
                <a:ext cx="577541" cy="384422"/>
              </a:xfrm>
              <a:prstGeom prst="blockArc">
                <a:avLst>
                  <a:gd name="adj1" fmla="val 10800000"/>
                  <a:gd name="adj2" fmla="val 21070430"/>
                  <a:gd name="adj3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EE5D8E-178D-F80D-1EBC-F0D932E8A11B}"/>
                </a:ext>
              </a:extLst>
            </p:cNvPr>
            <p:cNvGrpSpPr/>
            <p:nvPr/>
          </p:nvGrpSpPr>
          <p:grpSpPr>
            <a:xfrm>
              <a:off x="3752921" y="3350798"/>
              <a:ext cx="1208991" cy="2682438"/>
              <a:chOff x="4518709" y="3324662"/>
              <a:chExt cx="844550" cy="1418397"/>
            </a:xfrm>
          </p:grpSpPr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B0C472F2-675C-5F35-E65B-6FF68CFD09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18709" y="3339132"/>
                <a:ext cx="319104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1B1EAD6B-2A50-50C6-5F01-AB49CF064E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7047" y="3339132"/>
                <a:ext cx="266212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861EB6AA-9277-D1BB-4739-BD959581C1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358" y="3324662"/>
                <a:ext cx="0" cy="14183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BEA396E8-07BE-0602-9EA9-5AAE6CB7D6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57358" y="4600186"/>
                <a:ext cx="77771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2CB4E2A2-1C95-A166-1440-3EE4C18B3B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31989" y="4278711"/>
                <a:ext cx="6427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365A346F-305B-117F-59DC-7C6212F1F5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92527" y="4005280"/>
                <a:ext cx="5311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1F6E0AF0-A4EB-DE8F-E762-D516BBC4EF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015" y="3648092"/>
                <a:ext cx="3990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AD411027-43B0-CA29-DE4E-B8523E87EF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0647" y="3379006"/>
                <a:ext cx="27258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487568D4-BCDF-3758-69AD-2847EB614958}"/>
                </a:ext>
              </a:extLst>
            </p:cNvPr>
            <p:cNvGrpSpPr/>
            <p:nvPr/>
          </p:nvGrpSpPr>
          <p:grpSpPr>
            <a:xfrm>
              <a:off x="7354789" y="3350798"/>
              <a:ext cx="1208991" cy="2682438"/>
              <a:chOff x="4518709" y="3324662"/>
              <a:chExt cx="844550" cy="1418397"/>
            </a:xfrm>
          </p:grpSpPr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84B32F0E-DB1C-5ED0-1F15-563EC85062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18709" y="3339132"/>
                <a:ext cx="319104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47659BF6-BFD7-30FE-E3ED-2191FEB075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7047" y="3339132"/>
                <a:ext cx="266212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BD92293A-9C87-61C0-5C3E-27524372C1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358" y="3324662"/>
                <a:ext cx="0" cy="14183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1F6C3EF2-AC43-81A4-8729-75DEA621A7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57358" y="4600186"/>
                <a:ext cx="77771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4AEA42EC-3169-9643-1ACB-0C3D3F80C3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31989" y="4278711"/>
                <a:ext cx="6427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83B23488-DE2F-BBAD-B1AF-9C8D07D18A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92527" y="4005280"/>
                <a:ext cx="5311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B580B5FB-BD59-56DE-9A28-DDC81524FA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015" y="3648092"/>
                <a:ext cx="3990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77F30F5D-B191-B225-846F-1AB4BB27F3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0647" y="3379006"/>
                <a:ext cx="27258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0CA75F0A-A73F-74DF-B517-CEF8680FA981}"/>
                </a:ext>
              </a:extLst>
            </p:cNvPr>
            <p:cNvSpPr/>
            <p:nvPr/>
          </p:nvSpPr>
          <p:spPr>
            <a:xfrm>
              <a:off x="8467271" y="3305722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500" dirty="0" err="1">
                  <a:solidFill>
                    <a:schemeClr val="tx1"/>
                  </a:solidFill>
                </a:rPr>
                <a:t>waveguide</a:t>
              </a:r>
              <a:endParaRPr lang="LID4096" sz="500" dirty="0"/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AF3B654D-BDE7-7DEF-F180-9CD2411074F0}"/>
                </a:ext>
              </a:extLst>
            </p:cNvPr>
            <p:cNvSpPr/>
            <p:nvPr/>
          </p:nvSpPr>
          <p:spPr>
            <a:xfrm>
              <a:off x="9625331" y="2581102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500">
                  <a:solidFill>
                    <a:schemeClr val="tx1"/>
                  </a:solidFill>
                </a:rPr>
                <a:t>waveguide</a:t>
              </a:r>
              <a:endParaRPr lang="LID4096" sz="500"/>
            </a:p>
          </p:txBody>
        </p:sp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1B99CED5-83E7-7AEC-7A10-6ABADF5C0DE1}"/>
                </a:ext>
              </a:extLst>
            </p:cNvPr>
            <p:cNvSpPr/>
            <p:nvPr/>
          </p:nvSpPr>
          <p:spPr>
            <a:xfrm>
              <a:off x="8458916" y="2596347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500" dirty="0" err="1">
                  <a:solidFill>
                    <a:schemeClr val="tx1"/>
                  </a:solidFill>
                </a:rPr>
                <a:t>waveguide</a:t>
              </a:r>
              <a:endParaRPr lang="LID4096" sz="500" dirty="0">
                <a:solidFill>
                  <a:schemeClr val="tx1"/>
                </a:solidFill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A9036DEA-D2D2-779B-7617-3BA33FE8DC29}"/>
                </a:ext>
              </a:extLst>
            </p:cNvPr>
            <p:cNvSpPr/>
            <p:nvPr/>
          </p:nvSpPr>
          <p:spPr>
            <a:xfrm>
              <a:off x="9625331" y="3293925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500">
                  <a:solidFill>
                    <a:schemeClr val="tx1"/>
                  </a:solidFill>
                </a:rPr>
                <a:t>waveguide</a:t>
              </a:r>
              <a:endParaRPr lang="LID4096" sz="50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ABA6A95-6C59-F185-F1AE-5995558DE5CC}"/>
                </a:ext>
              </a:extLst>
            </p:cNvPr>
            <p:cNvSpPr txBox="1"/>
            <p:nvPr/>
          </p:nvSpPr>
          <p:spPr>
            <a:xfrm>
              <a:off x="9270835" y="2525807"/>
              <a:ext cx="245454" cy="452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…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59A908-6FDF-DD30-83FF-1B6617D86D2E}"/>
                </a:ext>
              </a:extLst>
            </p:cNvPr>
            <p:cNvSpPr txBox="1"/>
            <p:nvPr/>
          </p:nvSpPr>
          <p:spPr>
            <a:xfrm>
              <a:off x="9254355" y="3193780"/>
              <a:ext cx="245454" cy="452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…</a:t>
              </a:r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EEE72A65-FF37-3704-6FA6-C595471DFD9B}"/>
                </a:ext>
              </a:extLst>
            </p:cNvPr>
            <p:cNvGrpSpPr/>
            <p:nvPr/>
          </p:nvGrpSpPr>
          <p:grpSpPr>
            <a:xfrm rot="10800000">
              <a:off x="7915077" y="2857810"/>
              <a:ext cx="514315" cy="539790"/>
              <a:chOff x="4094649" y="3042235"/>
              <a:chExt cx="514315" cy="539790"/>
            </a:xfrm>
            <a:solidFill>
              <a:schemeClr val="accent4"/>
            </a:solidFill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73D2BF85-B663-1048-E744-8A76A94C17D2}"/>
                  </a:ext>
                </a:extLst>
              </p:cNvPr>
              <p:cNvSpPr/>
              <p:nvPr/>
            </p:nvSpPr>
            <p:spPr>
              <a:xfrm>
                <a:off x="4493419" y="3042235"/>
                <a:ext cx="115545" cy="539790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D04FCBEC-AD8D-EB25-14DD-E548143CF682}"/>
                  </a:ext>
                </a:extLst>
              </p:cNvPr>
              <p:cNvSpPr/>
              <p:nvPr/>
            </p:nvSpPr>
            <p:spPr>
              <a:xfrm rot="10800000">
                <a:off x="4094649" y="3172986"/>
                <a:ext cx="398770" cy="278288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500" b="1" dirty="0">
                    <a:solidFill>
                      <a:schemeClr val="tx1"/>
                    </a:solidFill>
                  </a:rPr>
                  <a:t>OMT</a:t>
                </a:r>
                <a:endParaRPr lang="LID4096" sz="5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F9B18E3-EF06-AAA5-C7AF-E45F8FFC5A8C}"/>
                  </a:ext>
                </a:extLst>
              </p:cNvPr>
              <p:cNvSpPr/>
              <p:nvPr/>
            </p:nvSpPr>
            <p:spPr>
              <a:xfrm>
                <a:off x="4222750" y="3042235"/>
                <a:ext cx="126980" cy="130751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665286A7-C8B9-823F-3623-D5AA32D68F6E}"/>
                  </a:ext>
                </a:extLst>
              </p:cNvPr>
              <p:cNvSpPr/>
              <p:nvPr/>
            </p:nvSpPr>
            <p:spPr>
              <a:xfrm>
                <a:off x="4231105" y="3451274"/>
                <a:ext cx="126980" cy="130751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/>
              </a:p>
            </p:txBody>
          </p:sp>
        </p:grpSp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443F5841-6549-BD5D-1E18-6AC32CCA91DC}"/>
                </a:ext>
              </a:extLst>
            </p:cNvPr>
            <p:cNvSpPr/>
            <p:nvPr/>
          </p:nvSpPr>
          <p:spPr>
            <a:xfrm>
              <a:off x="10678436" y="2119819"/>
              <a:ext cx="1155021" cy="21520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10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414E08B4-E91B-D503-0DCD-A318D38AA7D9}"/>
                </a:ext>
              </a:extLst>
            </p:cNvPr>
            <p:cNvSpPr/>
            <p:nvPr/>
          </p:nvSpPr>
          <p:spPr>
            <a:xfrm>
              <a:off x="10863155" y="2596347"/>
              <a:ext cx="848886" cy="3671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Carrier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CDB7B504-34E0-AC1D-1C36-B240CBA85FAF}"/>
                </a:ext>
              </a:extLst>
            </p:cNvPr>
            <p:cNvSpPr txBox="1"/>
            <p:nvPr/>
          </p:nvSpPr>
          <p:spPr>
            <a:xfrm>
              <a:off x="5733389" y="3876715"/>
              <a:ext cx="1064574" cy="399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ITU-R P.530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F54D21CF-575F-D1B0-236F-5895F99598FE}"/>
                </a:ext>
              </a:extLst>
            </p:cNvPr>
            <p:cNvSpPr txBox="1"/>
            <p:nvPr/>
          </p:nvSpPr>
          <p:spPr>
            <a:xfrm>
              <a:off x="10666111" y="3833409"/>
              <a:ext cx="1395019" cy="452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Radio Unit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C4DD392B-3F01-A772-3556-C316D74EF78D}"/>
                </a:ext>
              </a:extLst>
            </p:cNvPr>
            <p:cNvSpPr/>
            <p:nvPr/>
          </p:nvSpPr>
          <p:spPr>
            <a:xfrm>
              <a:off x="10869181" y="3247663"/>
              <a:ext cx="848886" cy="3671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Carrier</a:t>
              </a:r>
            </a:p>
          </p:txBody>
        </p:sp>
        <p:sp>
          <p:nvSpPr>
            <p:cNvPr id="172" name="Rectangle: Rounded Corners 171">
              <a:extLst>
                <a:ext uri="{FF2B5EF4-FFF2-40B4-BE49-F238E27FC236}">
                  <a16:creationId xmlns:a16="http://schemas.microsoft.com/office/drawing/2014/main" id="{0114BB5F-3DD7-8EC9-C156-55E61D743C2A}"/>
                </a:ext>
              </a:extLst>
            </p:cNvPr>
            <p:cNvSpPr/>
            <p:nvPr/>
          </p:nvSpPr>
          <p:spPr>
            <a:xfrm>
              <a:off x="494919" y="2217888"/>
              <a:ext cx="1155021" cy="21520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100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9B1F6B7B-8542-707D-A116-3D632C146D57}"/>
                </a:ext>
              </a:extLst>
            </p:cNvPr>
            <p:cNvSpPr/>
            <p:nvPr/>
          </p:nvSpPr>
          <p:spPr>
            <a:xfrm>
              <a:off x="679638" y="2694416"/>
              <a:ext cx="848886" cy="3671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Carrier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DC74C49-1D7F-7C40-8657-275DE041A133}"/>
                </a:ext>
              </a:extLst>
            </p:cNvPr>
            <p:cNvSpPr/>
            <p:nvPr/>
          </p:nvSpPr>
          <p:spPr>
            <a:xfrm>
              <a:off x="685664" y="3345732"/>
              <a:ext cx="848886" cy="3671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Carrier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898B1E7-994B-299B-0CB2-EDBFD7B3025D}"/>
                </a:ext>
              </a:extLst>
            </p:cNvPr>
            <p:cNvSpPr txBox="1"/>
            <p:nvPr/>
          </p:nvSpPr>
          <p:spPr>
            <a:xfrm>
              <a:off x="521633" y="3977413"/>
              <a:ext cx="1395019" cy="452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Radio Unit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68EF313E-F3CC-3C44-1822-1B93A8EC663E}"/>
                </a:ext>
              </a:extLst>
            </p:cNvPr>
            <p:cNvSpPr txBox="1"/>
            <p:nvPr/>
          </p:nvSpPr>
          <p:spPr>
            <a:xfrm>
              <a:off x="1846859" y="1939017"/>
              <a:ext cx="2068653" cy="878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waveguide </a:t>
              </a:r>
            </a:p>
            <a:p>
              <a:pPr algn="ctr"/>
              <a:r>
                <a:rPr lang="en-US" sz="900" dirty="0"/>
                <a:t>(Series of Flexible and rigid waveguides)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8157F03E-B84E-423B-3F68-6989D40ABB08}"/>
                </a:ext>
              </a:extLst>
            </p:cNvPr>
            <p:cNvSpPr txBox="1"/>
            <p:nvPr/>
          </p:nvSpPr>
          <p:spPr>
            <a:xfrm>
              <a:off x="3921180" y="1990931"/>
              <a:ext cx="2068653" cy="638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antenna</a:t>
              </a:r>
            </a:p>
            <a:p>
              <a:pPr algn="ctr"/>
              <a:r>
                <a:rPr lang="en-US" sz="900" dirty="0"/>
                <a:t>(Gain, RPE)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ACD3F72-42E6-A78E-08DF-3B393FCCA811}"/>
                </a:ext>
              </a:extLst>
            </p:cNvPr>
            <p:cNvSpPr txBox="1"/>
            <p:nvPr/>
          </p:nvSpPr>
          <p:spPr>
            <a:xfrm>
              <a:off x="3717924" y="2418185"/>
              <a:ext cx="944723" cy="638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Polarization coupler</a:t>
              </a:r>
            </a:p>
          </p:txBody>
        </p:sp>
        <p:cxnSp>
          <p:nvCxnSpPr>
            <p:cNvPr id="179" name="直接连接符 55">
              <a:extLst>
                <a:ext uri="{FF2B5EF4-FFF2-40B4-BE49-F238E27FC236}">
                  <a16:creationId xmlns:a16="http://schemas.microsoft.com/office/drawing/2014/main" id="{31B10198-BBF6-9050-1AAB-EC08BFC747FA}"/>
                </a:ext>
              </a:extLst>
            </p:cNvPr>
            <p:cNvCxnSpPr>
              <a:cxnSpLocks/>
            </p:cNvCxnSpPr>
            <p:nvPr/>
          </p:nvCxnSpPr>
          <p:spPr>
            <a:xfrm>
              <a:off x="3924684" y="3929480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C7119834-6A57-D1C7-1CDE-AC147E806A37}"/>
                </a:ext>
              </a:extLst>
            </p:cNvPr>
            <p:cNvSpPr txBox="1"/>
            <p:nvPr/>
          </p:nvSpPr>
          <p:spPr>
            <a:xfrm>
              <a:off x="3143202" y="3908295"/>
              <a:ext cx="734689" cy="638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Cable</a:t>
              </a:r>
            </a:p>
            <a:p>
              <a:pPr algn="ctr"/>
              <a:r>
                <a:rPr lang="en-US" sz="900" dirty="0"/>
                <a:t>Segment</a:t>
              </a:r>
            </a:p>
          </p:txBody>
        </p:sp>
        <p:cxnSp>
          <p:nvCxnSpPr>
            <p:cNvPr id="181" name="直接连接符 55">
              <a:extLst>
                <a:ext uri="{FF2B5EF4-FFF2-40B4-BE49-F238E27FC236}">
                  <a16:creationId xmlns:a16="http://schemas.microsoft.com/office/drawing/2014/main" id="{9275E481-3C02-0C30-C4D8-156A1FA042A2}"/>
                </a:ext>
              </a:extLst>
            </p:cNvPr>
            <p:cNvCxnSpPr>
              <a:cxnSpLocks/>
            </p:cNvCxnSpPr>
            <p:nvPr/>
          </p:nvCxnSpPr>
          <p:spPr>
            <a:xfrm>
              <a:off x="3105534" y="3929480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225">
              <a:extLst>
                <a:ext uri="{FF2B5EF4-FFF2-40B4-BE49-F238E27FC236}">
                  <a16:creationId xmlns:a16="http://schemas.microsoft.com/office/drawing/2014/main" id="{0459ADAC-B79C-7464-8025-6BC2C33168D7}"/>
                </a:ext>
              </a:extLst>
            </p:cNvPr>
            <p:cNvCxnSpPr>
              <a:cxnSpLocks/>
            </p:cNvCxnSpPr>
            <p:nvPr/>
          </p:nvCxnSpPr>
          <p:spPr>
            <a:xfrm>
              <a:off x="3143202" y="4392921"/>
              <a:ext cx="72458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55">
              <a:extLst>
                <a:ext uri="{FF2B5EF4-FFF2-40B4-BE49-F238E27FC236}">
                  <a16:creationId xmlns:a16="http://schemas.microsoft.com/office/drawing/2014/main" id="{DEC7210F-EB7E-BF81-9AC8-75BA06B8ABCB}"/>
                </a:ext>
              </a:extLst>
            </p:cNvPr>
            <p:cNvCxnSpPr>
              <a:cxnSpLocks/>
            </p:cNvCxnSpPr>
            <p:nvPr/>
          </p:nvCxnSpPr>
          <p:spPr>
            <a:xfrm>
              <a:off x="2735801" y="3929480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EBA29C25-85B4-97F7-6F2A-E267597DB797}"/>
                </a:ext>
              </a:extLst>
            </p:cNvPr>
            <p:cNvSpPr txBox="1"/>
            <p:nvPr/>
          </p:nvSpPr>
          <p:spPr>
            <a:xfrm>
              <a:off x="1954317" y="3908295"/>
              <a:ext cx="734689" cy="638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Cable</a:t>
              </a:r>
            </a:p>
            <a:p>
              <a:pPr algn="ctr"/>
              <a:r>
                <a:rPr lang="en-US" sz="900" dirty="0"/>
                <a:t>Segment</a:t>
              </a:r>
            </a:p>
          </p:txBody>
        </p:sp>
        <p:cxnSp>
          <p:nvCxnSpPr>
            <p:cNvPr id="185" name="直接连接符 55">
              <a:extLst>
                <a:ext uri="{FF2B5EF4-FFF2-40B4-BE49-F238E27FC236}">
                  <a16:creationId xmlns:a16="http://schemas.microsoft.com/office/drawing/2014/main" id="{9FE96C94-1422-E940-5D01-6E15C594B9DF}"/>
                </a:ext>
              </a:extLst>
            </p:cNvPr>
            <p:cNvCxnSpPr>
              <a:cxnSpLocks/>
            </p:cNvCxnSpPr>
            <p:nvPr/>
          </p:nvCxnSpPr>
          <p:spPr>
            <a:xfrm>
              <a:off x="1916651" y="3929480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箭头连接符 225">
              <a:extLst>
                <a:ext uri="{FF2B5EF4-FFF2-40B4-BE49-F238E27FC236}">
                  <a16:creationId xmlns:a16="http://schemas.microsoft.com/office/drawing/2014/main" id="{DB1C280B-6532-3A74-6898-44B3A0D2BEBC}"/>
                </a:ext>
              </a:extLst>
            </p:cNvPr>
            <p:cNvCxnSpPr>
              <a:cxnSpLocks/>
            </p:cNvCxnSpPr>
            <p:nvPr/>
          </p:nvCxnSpPr>
          <p:spPr>
            <a:xfrm>
              <a:off x="1954319" y="4392921"/>
              <a:ext cx="72458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9D6E0EC7-D83E-9F40-9560-C78E4E6F3BD6}"/>
                </a:ext>
              </a:extLst>
            </p:cNvPr>
            <p:cNvGrpSpPr/>
            <p:nvPr/>
          </p:nvGrpSpPr>
          <p:grpSpPr>
            <a:xfrm rot="10800000">
              <a:off x="7258372" y="2385689"/>
              <a:ext cx="666086" cy="1520800"/>
              <a:chOff x="4345493" y="2571265"/>
              <a:chExt cx="1134289" cy="1520800"/>
            </a:xfrm>
          </p:grpSpPr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2671A684-7392-AB40-CD69-E0D9F21B9FE3}"/>
                  </a:ext>
                </a:extLst>
              </p:cNvPr>
              <p:cNvSpPr/>
              <p:nvPr/>
            </p:nvSpPr>
            <p:spPr>
              <a:xfrm>
                <a:off x="4345493" y="2571265"/>
                <a:ext cx="990600" cy="15012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 dirty="0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C2C349F4-6A3E-03F6-7F6D-31418B5CA131}"/>
                  </a:ext>
                </a:extLst>
              </p:cNvPr>
              <p:cNvSpPr/>
              <p:nvPr/>
            </p:nvSpPr>
            <p:spPr>
              <a:xfrm>
                <a:off x="4489182" y="2590800"/>
                <a:ext cx="990600" cy="15012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 dirty="0"/>
              </a:p>
            </p:txBody>
          </p:sp>
        </p:grp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631AFAE-759D-ED5D-F149-AD8F99DC676B}"/>
                </a:ext>
              </a:extLst>
            </p:cNvPr>
            <p:cNvSpPr/>
            <p:nvPr/>
          </p:nvSpPr>
          <p:spPr>
            <a:xfrm>
              <a:off x="1647315" y="2737724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3819EE93-2E60-35E0-1A92-C673FC4BD070}"/>
                </a:ext>
              </a:extLst>
            </p:cNvPr>
            <p:cNvSpPr/>
            <p:nvPr/>
          </p:nvSpPr>
          <p:spPr>
            <a:xfrm>
              <a:off x="1650601" y="3379282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0F0BC5EC-02B7-2EBB-2D37-9F5FF3982B10}"/>
                </a:ext>
              </a:extLst>
            </p:cNvPr>
            <p:cNvSpPr/>
            <p:nvPr/>
          </p:nvSpPr>
          <p:spPr>
            <a:xfrm>
              <a:off x="10438633" y="2589375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032E293-D472-0980-03D3-FEF133F11D56}"/>
                </a:ext>
              </a:extLst>
            </p:cNvPr>
            <p:cNvSpPr/>
            <p:nvPr/>
          </p:nvSpPr>
          <p:spPr>
            <a:xfrm>
              <a:off x="10428895" y="3321946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FF0000"/>
                  </a:solidFill>
                </a:rPr>
                <a:t>4</a:t>
              </a:r>
            </a:p>
          </p:txBody>
        </p: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3C13378-3126-3566-BC23-1F76C54B3116}"/>
                </a:ext>
              </a:extLst>
            </p:cNvPr>
            <p:cNvCxnSpPr>
              <a:stCxn id="173" idx="3"/>
              <a:endCxn id="190" idx="1"/>
            </p:cNvCxnSpPr>
            <p:nvPr/>
          </p:nvCxnSpPr>
          <p:spPr>
            <a:xfrm flipV="1">
              <a:off x="1528524" y="2874092"/>
              <a:ext cx="118791" cy="38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72DD3A9B-DC3F-D0BB-A2C9-1867A1355352}"/>
                </a:ext>
              </a:extLst>
            </p:cNvPr>
            <p:cNvCxnSpPr>
              <a:stCxn id="174" idx="3"/>
              <a:endCxn id="191" idx="1"/>
            </p:cNvCxnSpPr>
            <p:nvPr/>
          </p:nvCxnSpPr>
          <p:spPr>
            <a:xfrm flipV="1">
              <a:off x="1534550" y="3515650"/>
              <a:ext cx="116051" cy="136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ctor: Elbow 195">
              <a:extLst>
                <a:ext uri="{FF2B5EF4-FFF2-40B4-BE49-F238E27FC236}">
                  <a16:creationId xmlns:a16="http://schemas.microsoft.com/office/drawing/2014/main" id="{55A4ECB8-3EDF-BA59-0F99-5EF2A6ADF52F}"/>
                </a:ext>
              </a:extLst>
            </p:cNvPr>
            <p:cNvCxnSpPr>
              <a:stCxn id="123" idx="3"/>
              <a:endCxn id="131" idx="2"/>
            </p:cNvCxnSpPr>
            <p:nvPr/>
          </p:nvCxnSpPr>
          <p:spPr>
            <a:xfrm flipV="1">
              <a:off x="3867784" y="3406216"/>
              <a:ext cx="361003" cy="124595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: Elbow 196">
              <a:extLst>
                <a:ext uri="{FF2B5EF4-FFF2-40B4-BE49-F238E27FC236}">
                  <a16:creationId xmlns:a16="http://schemas.microsoft.com/office/drawing/2014/main" id="{33DA775B-6F07-C8A6-E989-216A3531194B}"/>
                </a:ext>
              </a:extLst>
            </p:cNvPr>
            <p:cNvCxnSpPr>
              <a:stCxn id="166" idx="2"/>
              <a:endCxn id="158" idx="1"/>
            </p:cNvCxnSpPr>
            <p:nvPr/>
          </p:nvCxnSpPr>
          <p:spPr>
            <a:xfrm rot="5400000" flipH="1" flipV="1">
              <a:off x="8291959" y="2690853"/>
              <a:ext cx="104445" cy="22947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ctor: Elbow 197">
              <a:extLst>
                <a:ext uri="{FF2B5EF4-FFF2-40B4-BE49-F238E27FC236}">
                  <a16:creationId xmlns:a16="http://schemas.microsoft.com/office/drawing/2014/main" id="{F630EEEB-7D39-ADC2-1E9C-0624C7C43EE6}"/>
                </a:ext>
              </a:extLst>
            </p:cNvPr>
            <p:cNvCxnSpPr>
              <a:stCxn id="165" idx="0"/>
              <a:endCxn id="156" idx="1"/>
            </p:cNvCxnSpPr>
            <p:nvPr/>
          </p:nvCxnSpPr>
          <p:spPr>
            <a:xfrm rot="16200000" flipH="1">
              <a:off x="8319966" y="3315435"/>
              <a:ext cx="65140" cy="22947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ctor: Elbow 198">
              <a:extLst>
                <a:ext uri="{FF2B5EF4-FFF2-40B4-BE49-F238E27FC236}">
                  <a16:creationId xmlns:a16="http://schemas.microsoft.com/office/drawing/2014/main" id="{86C15F84-D323-5701-B58D-2DDA3701E17C}"/>
                </a:ext>
              </a:extLst>
            </p:cNvPr>
            <p:cNvCxnSpPr>
              <a:stCxn id="5" idx="3"/>
              <a:endCxn id="130" idx="0"/>
            </p:cNvCxnSpPr>
            <p:nvPr/>
          </p:nvCxnSpPr>
          <p:spPr>
            <a:xfrm flipV="1">
              <a:off x="3837414" y="2866426"/>
              <a:ext cx="383018" cy="3281"/>
            </a:xfrm>
            <a:prstGeom prst="bentConnector4">
              <a:avLst>
                <a:gd name="adj1" fmla="val 41712"/>
                <a:gd name="adj2" fmla="val 188259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7702775C-57D4-23EF-B314-DDA485D2F5FA}"/>
                </a:ext>
              </a:extLst>
            </p:cNvPr>
            <p:cNvCxnSpPr>
              <a:stCxn id="192" idx="3"/>
              <a:endCxn id="168" idx="1"/>
            </p:cNvCxnSpPr>
            <p:nvPr/>
          </p:nvCxnSpPr>
          <p:spPr>
            <a:xfrm>
              <a:off x="10685265" y="2725743"/>
              <a:ext cx="177890" cy="541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114FF25C-8635-4F7F-CA95-9EF58396D95B}"/>
                </a:ext>
              </a:extLst>
            </p:cNvPr>
            <p:cNvCxnSpPr>
              <a:stCxn id="193" idx="3"/>
              <a:endCxn id="171" idx="1"/>
            </p:cNvCxnSpPr>
            <p:nvPr/>
          </p:nvCxnSpPr>
          <p:spPr>
            <a:xfrm flipV="1">
              <a:off x="10675527" y="3431215"/>
              <a:ext cx="193654" cy="270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6A6192E5-5C25-2614-E6EF-0688D449DD1C}"/>
                </a:ext>
              </a:extLst>
            </p:cNvPr>
            <p:cNvGrpSpPr/>
            <p:nvPr/>
          </p:nvGrpSpPr>
          <p:grpSpPr>
            <a:xfrm rot="348720">
              <a:off x="8285729" y="4058436"/>
              <a:ext cx="310181" cy="868589"/>
              <a:chOff x="4345493" y="2571265"/>
              <a:chExt cx="1134289" cy="1520800"/>
            </a:xfrm>
          </p:grpSpPr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2BA1F16B-67F7-E359-EC28-1C7962627338}"/>
                  </a:ext>
                </a:extLst>
              </p:cNvPr>
              <p:cNvSpPr/>
              <p:nvPr/>
            </p:nvSpPr>
            <p:spPr>
              <a:xfrm>
                <a:off x="4345493" y="2571265"/>
                <a:ext cx="990600" cy="15012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 dirty="0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6D283238-C36C-62AE-798B-143A520C4352}"/>
                  </a:ext>
                </a:extLst>
              </p:cNvPr>
              <p:cNvSpPr/>
              <p:nvPr/>
            </p:nvSpPr>
            <p:spPr>
              <a:xfrm>
                <a:off x="4489182" y="2590800"/>
                <a:ext cx="990600" cy="15012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 dirty="0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20C9D541-AD92-5E27-D07F-8D6AD4681679}"/>
                </a:ext>
              </a:extLst>
            </p:cNvPr>
            <p:cNvGrpSpPr/>
            <p:nvPr/>
          </p:nvGrpSpPr>
          <p:grpSpPr>
            <a:xfrm>
              <a:off x="9625330" y="4800600"/>
              <a:ext cx="909319" cy="1566011"/>
              <a:chOff x="4518709" y="3324662"/>
              <a:chExt cx="844550" cy="1418397"/>
            </a:xfrm>
          </p:grpSpPr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975E6B0E-4927-D3A7-E25D-24140D2F47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18709" y="3339132"/>
                <a:ext cx="319104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AD1D0AD6-DEB7-88F6-4432-8926F86C22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7047" y="3339132"/>
                <a:ext cx="266212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A25B1E53-A105-2E81-B84E-A5AFBAF317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358" y="3324662"/>
                <a:ext cx="0" cy="14183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1C6C4C36-96E0-0EF6-4B32-7CE7FE2F26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57358" y="4600186"/>
                <a:ext cx="77771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1633E75E-AE57-3F8B-4775-53DCFBB5BE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31989" y="4278711"/>
                <a:ext cx="6427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A21128A1-D018-B2D9-F341-54A0EEDF21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92527" y="4005280"/>
                <a:ext cx="5311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44CD7481-5A37-6FD7-A94C-AF789EF5B1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015" y="3648092"/>
                <a:ext cx="3990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2DF05B1E-193A-9A85-BB1E-A46D624032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0647" y="3379006"/>
                <a:ext cx="27258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12F92E08-A3B8-C26E-C193-984D55B4D320}"/>
                </a:ext>
              </a:extLst>
            </p:cNvPr>
            <p:cNvGrpSpPr/>
            <p:nvPr/>
          </p:nvGrpSpPr>
          <p:grpSpPr>
            <a:xfrm rot="11483015">
              <a:off x="9690516" y="4882979"/>
              <a:ext cx="255073" cy="685942"/>
              <a:chOff x="4345493" y="2571265"/>
              <a:chExt cx="1134289" cy="1520800"/>
            </a:xfrm>
          </p:grpSpPr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9D0C8C75-E61B-826E-DDE8-05C02D95A1A2}"/>
                  </a:ext>
                </a:extLst>
              </p:cNvPr>
              <p:cNvSpPr/>
              <p:nvPr/>
            </p:nvSpPr>
            <p:spPr>
              <a:xfrm>
                <a:off x="4345493" y="2571265"/>
                <a:ext cx="990600" cy="15012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 dirty="0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61EBC8D5-D430-A0A1-410E-3C79224FCB85}"/>
                  </a:ext>
                </a:extLst>
              </p:cNvPr>
              <p:cNvSpPr/>
              <p:nvPr/>
            </p:nvSpPr>
            <p:spPr>
              <a:xfrm>
                <a:off x="4489182" y="2590800"/>
                <a:ext cx="990600" cy="15012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100" dirty="0"/>
              </a:p>
            </p:txBody>
          </p:sp>
        </p:grp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DDDA2701-5D14-5EB9-8678-6F02A069907D}"/>
              </a:ext>
            </a:extLst>
          </p:cNvPr>
          <p:cNvGrpSpPr/>
          <p:nvPr/>
        </p:nvGrpSpPr>
        <p:grpSpPr>
          <a:xfrm>
            <a:off x="672713" y="4027738"/>
            <a:ext cx="10846574" cy="2579287"/>
            <a:chOff x="494919" y="1482105"/>
            <a:chExt cx="11586097" cy="5010770"/>
          </a:xfrm>
        </p:grpSpPr>
        <p:sp>
          <p:nvSpPr>
            <p:cNvPr id="218" name="Rectangle: Rounded Corners 217">
              <a:extLst>
                <a:ext uri="{FF2B5EF4-FFF2-40B4-BE49-F238E27FC236}">
                  <a16:creationId xmlns:a16="http://schemas.microsoft.com/office/drawing/2014/main" id="{5B96551F-8472-F036-4EEF-F27BCAD7BA60}"/>
                </a:ext>
              </a:extLst>
            </p:cNvPr>
            <p:cNvSpPr/>
            <p:nvPr/>
          </p:nvSpPr>
          <p:spPr>
            <a:xfrm>
              <a:off x="5487564" y="2424083"/>
              <a:ext cx="1441329" cy="1778461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800" dirty="0" err="1">
                  <a:solidFill>
                    <a:schemeClr val="tx1"/>
                  </a:solidFill>
                </a:rPr>
                <a:t>Atmospheric</a:t>
              </a:r>
              <a:r>
                <a:rPr lang="de-DE" sz="800" dirty="0">
                  <a:solidFill>
                    <a:schemeClr val="tx1"/>
                  </a:solidFill>
                </a:rPr>
                <a:t>-link</a:t>
              </a:r>
              <a:endParaRPr lang="LID4096" sz="800" dirty="0">
                <a:solidFill>
                  <a:schemeClr val="tx1"/>
                </a:solidFill>
              </a:endParaRPr>
            </a:p>
          </p:txBody>
        </p:sp>
        <p:sp>
          <p:nvSpPr>
            <p:cNvPr id="219" name="Rectangle: Rounded Corners 218">
              <a:extLst>
                <a:ext uri="{FF2B5EF4-FFF2-40B4-BE49-F238E27FC236}">
                  <a16:creationId xmlns:a16="http://schemas.microsoft.com/office/drawing/2014/main" id="{2926DFB5-3434-C725-E3F6-2E0F2A6E03AB}"/>
                </a:ext>
              </a:extLst>
            </p:cNvPr>
            <p:cNvSpPr/>
            <p:nvPr/>
          </p:nvSpPr>
          <p:spPr>
            <a:xfrm>
              <a:off x="1906160" y="3385590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 dirty="0" err="1">
                  <a:solidFill>
                    <a:schemeClr val="tx1"/>
                  </a:solidFill>
                </a:rPr>
                <a:t>waveguide</a:t>
              </a:r>
              <a:endParaRPr lang="LID4096" sz="400" dirty="0"/>
            </a:p>
          </p:txBody>
        </p:sp>
        <p:sp>
          <p:nvSpPr>
            <p:cNvPr id="220" name="Rectangle: Rounded Corners 219">
              <a:extLst>
                <a:ext uri="{FF2B5EF4-FFF2-40B4-BE49-F238E27FC236}">
                  <a16:creationId xmlns:a16="http://schemas.microsoft.com/office/drawing/2014/main" id="{309873D0-B72A-6901-F13E-132A54C564C0}"/>
                </a:ext>
              </a:extLst>
            </p:cNvPr>
            <p:cNvSpPr/>
            <p:nvPr/>
          </p:nvSpPr>
          <p:spPr>
            <a:xfrm>
              <a:off x="3033850" y="2712689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>
                  <a:solidFill>
                    <a:schemeClr val="tx1"/>
                  </a:solidFill>
                </a:rPr>
                <a:t>waveguide</a:t>
              </a:r>
              <a:endParaRPr lang="LID4096" sz="400"/>
            </a:p>
          </p:txBody>
        </p:sp>
        <p:sp>
          <p:nvSpPr>
            <p:cNvPr id="221" name="Rectangle: Rounded Corners 220">
              <a:extLst>
                <a:ext uri="{FF2B5EF4-FFF2-40B4-BE49-F238E27FC236}">
                  <a16:creationId xmlns:a16="http://schemas.microsoft.com/office/drawing/2014/main" id="{01042A0B-F4D4-02F1-7CD1-CC1D0FA307A6}"/>
                </a:ext>
              </a:extLst>
            </p:cNvPr>
            <p:cNvSpPr/>
            <p:nvPr/>
          </p:nvSpPr>
          <p:spPr>
            <a:xfrm>
              <a:off x="1881924" y="2705988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 dirty="0" err="1">
                  <a:solidFill>
                    <a:schemeClr val="tx1"/>
                  </a:solidFill>
                </a:rPr>
                <a:t>waveguide</a:t>
              </a:r>
              <a:endParaRPr lang="LID4096" sz="400" dirty="0">
                <a:solidFill>
                  <a:schemeClr val="tx1"/>
                </a:solidFill>
              </a:endParaRPr>
            </a:p>
          </p:txBody>
        </p:sp>
        <p:sp>
          <p:nvSpPr>
            <p:cNvPr id="222" name="Rectangle: Rounded Corners 221">
              <a:extLst>
                <a:ext uri="{FF2B5EF4-FFF2-40B4-BE49-F238E27FC236}">
                  <a16:creationId xmlns:a16="http://schemas.microsoft.com/office/drawing/2014/main" id="{486025F2-F610-1836-0F8B-58C792137869}"/>
                </a:ext>
              </a:extLst>
            </p:cNvPr>
            <p:cNvSpPr/>
            <p:nvPr/>
          </p:nvSpPr>
          <p:spPr>
            <a:xfrm>
              <a:off x="3064220" y="3373793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>
                  <a:solidFill>
                    <a:schemeClr val="tx1"/>
                  </a:solidFill>
                </a:rPr>
                <a:t>waveguide</a:t>
              </a:r>
              <a:endParaRPr lang="LID4096" sz="400"/>
            </a:p>
          </p:txBody>
        </p: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67E51072-87FE-612E-D60A-B10969FE976B}"/>
                </a:ext>
              </a:extLst>
            </p:cNvPr>
            <p:cNvGrpSpPr/>
            <p:nvPr/>
          </p:nvGrpSpPr>
          <p:grpSpPr>
            <a:xfrm>
              <a:off x="4543157" y="2385689"/>
              <a:ext cx="727395" cy="1520800"/>
              <a:chOff x="4345493" y="2571265"/>
              <a:chExt cx="1134289" cy="1520800"/>
            </a:xfrm>
            <a:solidFill>
              <a:schemeClr val="bg1"/>
            </a:solidFill>
          </p:grpSpPr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8AC2044C-DBFA-9333-08B6-4D26164B2632}"/>
                  </a:ext>
                </a:extLst>
              </p:cNvPr>
              <p:cNvSpPr/>
              <p:nvPr/>
            </p:nvSpPr>
            <p:spPr>
              <a:xfrm>
                <a:off x="4345493" y="2571265"/>
                <a:ext cx="990600" cy="1501265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 dirty="0"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A312CE42-6D12-5E1C-91DB-B46ACD745D0C}"/>
                  </a:ext>
                </a:extLst>
              </p:cNvPr>
              <p:cNvSpPr/>
              <p:nvPr/>
            </p:nvSpPr>
            <p:spPr>
              <a:xfrm>
                <a:off x="4489182" y="2590800"/>
                <a:ext cx="990600" cy="1501265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 dirty="0"/>
              </a:p>
            </p:txBody>
          </p: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A02D9041-52A4-3BF5-55E3-DF509181A416}"/>
                </a:ext>
              </a:extLst>
            </p:cNvPr>
            <p:cNvGrpSpPr/>
            <p:nvPr/>
          </p:nvGrpSpPr>
          <p:grpSpPr>
            <a:xfrm>
              <a:off x="4028841" y="2866426"/>
              <a:ext cx="514315" cy="539790"/>
              <a:chOff x="4094649" y="3042235"/>
              <a:chExt cx="514315" cy="539790"/>
            </a:xfrm>
            <a:solidFill>
              <a:schemeClr val="accent4"/>
            </a:solidFill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2A1A7ABA-4043-D358-43BC-BD7F384F79A8}"/>
                  </a:ext>
                </a:extLst>
              </p:cNvPr>
              <p:cNvSpPr/>
              <p:nvPr/>
            </p:nvSpPr>
            <p:spPr>
              <a:xfrm>
                <a:off x="4493419" y="3042235"/>
                <a:ext cx="115545" cy="539790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772444FA-E81C-2A6F-A278-1686A196B314}"/>
                  </a:ext>
                </a:extLst>
              </p:cNvPr>
              <p:cNvSpPr/>
              <p:nvPr/>
            </p:nvSpPr>
            <p:spPr>
              <a:xfrm>
                <a:off x="4094649" y="3172986"/>
                <a:ext cx="398770" cy="278288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b="1" dirty="0">
                    <a:solidFill>
                      <a:schemeClr val="tx1"/>
                    </a:solidFill>
                  </a:rPr>
                  <a:t>OMT</a:t>
                </a:r>
                <a:endParaRPr lang="LID4096" sz="3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5B600BC6-003A-EC91-65FF-726CA4AA3582}"/>
                  </a:ext>
                </a:extLst>
              </p:cNvPr>
              <p:cNvSpPr/>
              <p:nvPr/>
            </p:nvSpPr>
            <p:spPr>
              <a:xfrm>
                <a:off x="4222750" y="3042235"/>
                <a:ext cx="126980" cy="130751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/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C806C639-832F-4CF7-0865-7496F48EB580}"/>
                  </a:ext>
                </a:extLst>
              </p:cNvPr>
              <p:cNvSpPr/>
              <p:nvPr/>
            </p:nvSpPr>
            <p:spPr>
              <a:xfrm>
                <a:off x="4231105" y="3451274"/>
                <a:ext cx="126980" cy="130751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/>
              </a:p>
            </p:txBody>
          </p:sp>
        </p:grp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966EEF07-7511-1D44-2042-4D8D3E375B8E}"/>
                </a:ext>
              </a:extLst>
            </p:cNvPr>
            <p:cNvSpPr txBox="1"/>
            <p:nvPr/>
          </p:nvSpPr>
          <p:spPr>
            <a:xfrm>
              <a:off x="2709724" y="2605674"/>
              <a:ext cx="245454" cy="525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…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FE76FDD4-D392-18BA-744A-02777F8345DC}"/>
                </a:ext>
              </a:extLst>
            </p:cNvPr>
            <p:cNvSpPr txBox="1"/>
            <p:nvPr/>
          </p:nvSpPr>
          <p:spPr>
            <a:xfrm>
              <a:off x="2693245" y="3273648"/>
              <a:ext cx="245454" cy="525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…</a:t>
              </a:r>
            </a:p>
          </p:txBody>
        </p: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3D0E17EA-E28C-B694-8E97-1766658EA95E}"/>
                </a:ext>
              </a:extLst>
            </p:cNvPr>
            <p:cNvGrpSpPr/>
            <p:nvPr/>
          </p:nvGrpSpPr>
          <p:grpSpPr>
            <a:xfrm>
              <a:off x="5831728" y="2788931"/>
              <a:ext cx="566687" cy="783789"/>
              <a:chOff x="6159150" y="4092338"/>
              <a:chExt cx="566687" cy="783789"/>
            </a:xfrm>
          </p:grpSpPr>
          <p:sp>
            <p:nvSpPr>
              <p:cNvPr id="234" name="Block Arc 233">
                <a:extLst>
                  <a:ext uri="{FF2B5EF4-FFF2-40B4-BE49-F238E27FC236}">
                    <a16:creationId xmlns:a16="http://schemas.microsoft.com/office/drawing/2014/main" id="{03CEA288-70A9-719B-7C5D-8104B79C472A}"/>
                  </a:ext>
                </a:extLst>
              </p:cNvPr>
              <p:cNvSpPr/>
              <p:nvPr/>
            </p:nvSpPr>
            <p:spPr>
              <a:xfrm rot="5400000">
                <a:off x="6092293" y="4242583"/>
                <a:ext cx="783789" cy="483299"/>
              </a:xfrm>
              <a:prstGeom prst="blockArc">
                <a:avLst>
                  <a:gd name="adj1" fmla="val 10800000"/>
                  <a:gd name="adj2" fmla="val 21070430"/>
                  <a:gd name="adj3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235" name="Block Arc 234">
                <a:extLst>
                  <a:ext uri="{FF2B5EF4-FFF2-40B4-BE49-F238E27FC236}">
                    <a16:creationId xmlns:a16="http://schemas.microsoft.com/office/drawing/2014/main" id="{EFE7B99A-3C94-DD63-32E0-E31EA1178D64}"/>
                  </a:ext>
                </a:extLst>
              </p:cNvPr>
              <p:cNvSpPr/>
              <p:nvPr/>
            </p:nvSpPr>
            <p:spPr>
              <a:xfrm rot="5400000">
                <a:off x="6058675" y="4335456"/>
                <a:ext cx="467164" cy="266213"/>
              </a:xfrm>
              <a:prstGeom prst="blockArc">
                <a:avLst>
                  <a:gd name="adj1" fmla="val 10800000"/>
                  <a:gd name="adj2" fmla="val 21070430"/>
                  <a:gd name="adj3" fmla="val 0"/>
                </a:avLst>
              </a:prstGeom>
              <a:ln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6" name="Block Arc 235">
                <a:extLst>
                  <a:ext uri="{FF2B5EF4-FFF2-40B4-BE49-F238E27FC236}">
                    <a16:creationId xmlns:a16="http://schemas.microsoft.com/office/drawing/2014/main" id="{D4307CD2-B588-FF6B-AD5D-381228ACF139}"/>
                  </a:ext>
                </a:extLst>
              </p:cNvPr>
              <p:cNvSpPr/>
              <p:nvPr/>
            </p:nvSpPr>
            <p:spPr>
              <a:xfrm rot="5400000">
                <a:off x="6116113" y="4286638"/>
                <a:ext cx="577541" cy="384422"/>
              </a:xfrm>
              <a:prstGeom prst="blockArc">
                <a:avLst>
                  <a:gd name="adj1" fmla="val 10800000"/>
                  <a:gd name="adj2" fmla="val 21070430"/>
                  <a:gd name="adj3" fmla="val 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C17855BA-BE95-A69A-F022-BCB4D74411D7}"/>
                </a:ext>
              </a:extLst>
            </p:cNvPr>
            <p:cNvGrpSpPr/>
            <p:nvPr/>
          </p:nvGrpSpPr>
          <p:grpSpPr>
            <a:xfrm>
              <a:off x="3752921" y="3350798"/>
              <a:ext cx="1208991" cy="2682438"/>
              <a:chOff x="4518709" y="3324662"/>
              <a:chExt cx="844550" cy="1418397"/>
            </a:xfrm>
          </p:grpSpPr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5EBFC68A-9467-FBEF-529A-52567959AF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18709" y="3339132"/>
                <a:ext cx="319104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23C213C9-B994-5322-0913-844C9F395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7047" y="3339132"/>
                <a:ext cx="266212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095C453B-0E74-3993-4F9D-3FF497ED48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358" y="3324662"/>
                <a:ext cx="0" cy="14183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59634098-BD43-3EF5-E283-E52A1667B4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57358" y="4600186"/>
                <a:ext cx="77771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70EE9BC9-2EB4-517C-4FEC-1B88773591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31989" y="4278711"/>
                <a:ext cx="6427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CF24A41B-9711-EA20-E6F2-A33DF93731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92527" y="4005280"/>
                <a:ext cx="5311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09ADD483-358F-E8A8-EBE3-7B8BFA370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015" y="3648092"/>
                <a:ext cx="3990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7E2AFEA6-620E-82B7-C25E-21B0915C3D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0647" y="3379006"/>
                <a:ext cx="27258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01D890E7-1C5E-A49A-DF5E-01EA6D23D51C}"/>
                </a:ext>
              </a:extLst>
            </p:cNvPr>
            <p:cNvGrpSpPr/>
            <p:nvPr/>
          </p:nvGrpSpPr>
          <p:grpSpPr>
            <a:xfrm>
              <a:off x="7354789" y="3350798"/>
              <a:ext cx="1208991" cy="2682438"/>
              <a:chOff x="4518709" y="3324662"/>
              <a:chExt cx="844550" cy="1418397"/>
            </a:xfrm>
          </p:grpSpPr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C2FA80EB-5192-242B-ADAF-BF6102842B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18709" y="3339132"/>
                <a:ext cx="319104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14AB33DF-7154-6D93-DC23-36ED6F189A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7047" y="3339132"/>
                <a:ext cx="266212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29E9080C-83AE-39EC-744B-7185F04A6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358" y="3324662"/>
                <a:ext cx="0" cy="14183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781062C6-3344-A0C5-4817-5326E445D1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57358" y="4600186"/>
                <a:ext cx="77771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E16B4D60-1F20-C1F0-84AC-45869CA9F4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31989" y="4278711"/>
                <a:ext cx="6427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1E5158C8-3ACC-9166-F51C-76F946DC67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92527" y="4005280"/>
                <a:ext cx="5311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7C4046EC-B374-98F3-CDFC-561277B320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015" y="3648092"/>
                <a:ext cx="3990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B5FFD14D-DAB4-9A4D-11D9-DAAAF4F914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0647" y="3379006"/>
                <a:ext cx="27258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5" name="Rectangle: Rounded Corners 254">
              <a:extLst>
                <a:ext uri="{FF2B5EF4-FFF2-40B4-BE49-F238E27FC236}">
                  <a16:creationId xmlns:a16="http://schemas.microsoft.com/office/drawing/2014/main" id="{0269EEC0-7317-1C86-E818-5CCD234A83C8}"/>
                </a:ext>
              </a:extLst>
            </p:cNvPr>
            <p:cNvSpPr/>
            <p:nvPr/>
          </p:nvSpPr>
          <p:spPr>
            <a:xfrm rot="5400000">
              <a:off x="8473372" y="3362115"/>
              <a:ext cx="214795" cy="651427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300" dirty="0" err="1">
                  <a:solidFill>
                    <a:schemeClr val="tx1"/>
                  </a:solidFill>
                </a:rPr>
                <a:t>waveguide</a:t>
              </a:r>
              <a:endParaRPr lang="LID4096" sz="300" dirty="0"/>
            </a:p>
          </p:txBody>
        </p:sp>
        <p:sp>
          <p:nvSpPr>
            <p:cNvPr id="256" name="Rectangle: Rounded Corners 255">
              <a:extLst>
                <a:ext uri="{FF2B5EF4-FFF2-40B4-BE49-F238E27FC236}">
                  <a16:creationId xmlns:a16="http://schemas.microsoft.com/office/drawing/2014/main" id="{FF369CFC-4CD8-6041-2CEA-BEA9CA027939}"/>
                </a:ext>
              </a:extLst>
            </p:cNvPr>
            <p:cNvSpPr/>
            <p:nvPr/>
          </p:nvSpPr>
          <p:spPr>
            <a:xfrm>
              <a:off x="9625331" y="2581102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>
                  <a:solidFill>
                    <a:schemeClr val="tx1"/>
                  </a:solidFill>
                </a:rPr>
                <a:t>waveguide</a:t>
              </a:r>
              <a:endParaRPr lang="LID4096" sz="400"/>
            </a:p>
          </p:txBody>
        </p:sp>
        <p:sp>
          <p:nvSpPr>
            <p:cNvPr id="257" name="Rectangle: Rounded Corners 256">
              <a:extLst>
                <a:ext uri="{FF2B5EF4-FFF2-40B4-BE49-F238E27FC236}">
                  <a16:creationId xmlns:a16="http://schemas.microsoft.com/office/drawing/2014/main" id="{39C36421-2EAF-84A4-042D-ABC8FA4E2136}"/>
                </a:ext>
              </a:extLst>
            </p:cNvPr>
            <p:cNvSpPr/>
            <p:nvPr/>
          </p:nvSpPr>
          <p:spPr>
            <a:xfrm>
              <a:off x="8458916" y="2596347"/>
              <a:ext cx="803564" cy="31403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 dirty="0" err="1">
                  <a:solidFill>
                    <a:schemeClr val="tx1"/>
                  </a:solidFill>
                </a:rPr>
                <a:t>waveguide</a:t>
              </a:r>
              <a:endParaRPr lang="LID4096" sz="400" dirty="0">
                <a:solidFill>
                  <a:schemeClr val="tx1"/>
                </a:solidFill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3A6F8F3C-EA6A-8FE4-2862-EB75EDE1288C}"/>
                </a:ext>
              </a:extLst>
            </p:cNvPr>
            <p:cNvSpPr txBox="1"/>
            <p:nvPr/>
          </p:nvSpPr>
          <p:spPr>
            <a:xfrm>
              <a:off x="9270835" y="2525806"/>
              <a:ext cx="245454" cy="525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…</a:t>
              </a:r>
            </a:p>
          </p:txBody>
        </p: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37D54471-DD8C-EEAA-A619-F3CDB57E9848}"/>
                </a:ext>
              </a:extLst>
            </p:cNvPr>
            <p:cNvGrpSpPr/>
            <p:nvPr/>
          </p:nvGrpSpPr>
          <p:grpSpPr>
            <a:xfrm rot="10800000">
              <a:off x="7915077" y="2857810"/>
              <a:ext cx="514315" cy="539790"/>
              <a:chOff x="4094649" y="3042235"/>
              <a:chExt cx="514315" cy="539790"/>
            </a:xfrm>
            <a:solidFill>
              <a:schemeClr val="accent4"/>
            </a:solidFill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006B919E-452F-4D23-DC80-E4EFEE97FA2D}"/>
                  </a:ext>
                </a:extLst>
              </p:cNvPr>
              <p:cNvSpPr/>
              <p:nvPr/>
            </p:nvSpPr>
            <p:spPr>
              <a:xfrm>
                <a:off x="4493419" y="3042235"/>
                <a:ext cx="115545" cy="539790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/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9C9D2F61-D4A4-01FF-DDAB-A234B9707A5F}"/>
                  </a:ext>
                </a:extLst>
              </p:cNvPr>
              <p:cNvSpPr/>
              <p:nvPr/>
            </p:nvSpPr>
            <p:spPr>
              <a:xfrm rot="10800000">
                <a:off x="4094649" y="3172986"/>
                <a:ext cx="398770" cy="278288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b="1" dirty="0">
                    <a:solidFill>
                      <a:schemeClr val="tx1"/>
                    </a:solidFill>
                  </a:rPr>
                  <a:t>OMT</a:t>
                </a:r>
                <a:endParaRPr lang="LID4096" sz="3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2D5D110F-CC10-1F7D-95CB-A6387802A980}"/>
                  </a:ext>
                </a:extLst>
              </p:cNvPr>
              <p:cNvSpPr/>
              <p:nvPr/>
            </p:nvSpPr>
            <p:spPr>
              <a:xfrm>
                <a:off x="4222750" y="3042235"/>
                <a:ext cx="126980" cy="130751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9CCE6C30-1F91-6859-697B-1AF139F44EDD}"/>
                  </a:ext>
                </a:extLst>
              </p:cNvPr>
              <p:cNvSpPr/>
              <p:nvPr/>
            </p:nvSpPr>
            <p:spPr>
              <a:xfrm>
                <a:off x="4231105" y="3451274"/>
                <a:ext cx="126980" cy="130751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/>
              </a:p>
            </p:txBody>
          </p:sp>
        </p:grpSp>
        <p:sp>
          <p:nvSpPr>
            <p:cNvPr id="264" name="Rectangle: Rounded Corners 263">
              <a:extLst>
                <a:ext uri="{FF2B5EF4-FFF2-40B4-BE49-F238E27FC236}">
                  <a16:creationId xmlns:a16="http://schemas.microsoft.com/office/drawing/2014/main" id="{384C39CD-AB87-3683-B1E1-12C41108903F}"/>
                </a:ext>
              </a:extLst>
            </p:cNvPr>
            <p:cNvSpPr/>
            <p:nvPr/>
          </p:nvSpPr>
          <p:spPr>
            <a:xfrm>
              <a:off x="10678436" y="2119819"/>
              <a:ext cx="1155021" cy="21520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050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D8191BC3-C53C-EFD7-C3BA-27FC75FDF701}"/>
                </a:ext>
              </a:extLst>
            </p:cNvPr>
            <p:cNvSpPr/>
            <p:nvPr/>
          </p:nvSpPr>
          <p:spPr>
            <a:xfrm>
              <a:off x="10863155" y="2596347"/>
              <a:ext cx="848886" cy="3671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Carrier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19A36431-DCA4-8A94-5563-D7959FF41726}"/>
                </a:ext>
              </a:extLst>
            </p:cNvPr>
            <p:cNvSpPr txBox="1"/>
            <p:nvPr/>
          </p:nvSpPr>
          <p:spPr>
            <a:xfrm>
              <a:off x="5733390" y="3876717"/>
              <a:ext cx="1064575" cy="43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ITU-R P.530</a:t>
              </a:r>
            </a:p>
          </p:txBody>
        </p:sp>
        <p:sp>
          <p:nvSpPr>
            <p:cNvPr id="267" name="Rectangle: Rounded Corners 266">
              <a:extLst>
                <a:ext uri="{FF2B5EF4-FFF2-40B4-BE49-F238E27FC236}">
                  <a16:creationId xmlns:a16="http://schemas.microsoft.com/office/drawing/2014/main" id="{2CB296DE-5ED1-9325-3613-C54C9A78CA8D}"/>
                </a:ext>
              </a:extLst>
            </p:cNvPr>
            <p:cNvSpPr/>
            <p:nvPr/>
          </p:nvSpPr>
          <p:spPr>
            <a:xfrm>
              <a:off x="494919" y="2217888"/>
              <a:ext cx="1155021" cy="21520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050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FA80D156-5700-FA75-43F8-44C04A2F6B14}"/>
                </a:ext>
              </a:extLst>
            </p:cNvPr>
            <p:cNvSpPr/>
            <p:nvPr/>
          </p:nvSpPr>
          <p:spPr>
            <a:xfrm>
              <a:off x="679638" y="2694416"/>
              <a:ext cx="848886" cy="3671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Carrier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393E7F68-9CA9-2DF3-3498-EC569DDE0620}"/>
                </a:ext>
              </a:extLst>
            </p:cNvPr>
            <p:cNvSpPr/>
            <p:nvPr/>
          </p:nvSpPr>
          <p:spPr>
            <a:xfrm>
              <a:off x="685664" y="3345732"/>
              <a:ext cx="848886" cy="3671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Carrier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32BDCCE9-B8EF-9743-A190-E2393ECF37F2}"/>
                </a:ext>
              </a:extLst>
            </p:cNvPr>
            <p:cNvSpPr txBox="1"/>
            <p:nvPr/>
          </p:nvSpPr>
          <p:spPr>
            <a:xfrm>
              <a:off x="521633" y="3977413"/>
              <a:ext cx="1395019" cy="525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Radio Unit</a:t>
              </a: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871B1FCA-5705-845C-EEBE-14915D4B5A5B}"/>
                </a:ext>
              </a:extLst>
            </p:cNvPr>
            <p:cNvSpPr txBox="1"/>
            <p:nvPr/>
          </p:nvSpPr>
          <p:spPr>
            <a:xfrm>
              <a:off x="1846859" y="1939016"/>
              <a:ext cx="2068653" cy="680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waveguide </a:t>
              </a:r>
            </a:p>
            <a:p>
              <a:pPr algn="ctr"/>
              <a:r>
                <a:rPr lang="en-US" sz="800" dirty="0"/>
                <a:t>(Series of Flexible and rigid waveguides)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11651829-990F-6BD3-800C-A8F4DB89340B}"/>
                </a:ext>
              </a:extLst>
            </p:cNvPr>
            <p:cNvSpPr txBox="1"/>
            <p:nvPr/>
          </p:nvSpPr>
          <p:spPr>
            <a:xfrm>
              <a:off x="3921180" y="1990928"/>
              <a:ext cx="2068653" cy="680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antenna</a:t>
              </a:r>
            </a:p>
            <a:p>
              <a:pPr algn="ctr"/>
              <a:r>
                <a:rPr lang="en-US" sz="800" dirty="0"/>
                <a:t>(Gain, RPE)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B07B56F4-3B27-5D0D-FAA9-F0DAA48BB06A}"/>
                </a:ext>
              </a:extLst>
            </p:cNvPr>
            <p:cNvSpPr txBox="1"/>
            <p:nvPr/>
          </p:nvSpPr>
          <p:spPr>
            <a:xfrm>
              <a:off x="3717925" y="2418186"/>
              <a:ext cx="944722" cy="680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Polarization coupler</a:t>
              </a:r>
            </a:p>
          </p:txBody>
        </p:sp>
        <p:cxnSp>
          <p:nvCxnSpPr>
            <p:cNvPr id="274" name="直接连接符 55">
              <a:extLst>
                <a:ext uri="{FF2B5EF4-FFF2-40B4-BE49-F238E27FC236}">
                  <a16:creationId xmlns:a16="http://schemas.microsoft.com/office/drawing/2014/main" id="{8BB35C15-7607-4747-87FD-9303C5039452}"/>
                </a:ext>
              </a:extLst>
            </p:cNvPr>
            <p:cNvCxnSpPr>
              <a:cxnSpLocks/>
            </p:cNvCxnSpPr>
            <p:nvPr/>
          </p:nvCxnSpPr>
          <p:spPr>
            <a:xfrm>
              <a:off x="3924684" y="3929480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F7486987-9DC5-C083-CA00-A6822B0AF01F}"/>
                </a:ext>
              </a:extLst>
            </p:cNvPr>
            <p:cNvSpPr txBox="1"/>
            <p:nvPr/>
          </p:nvSpPr>
          <p:spPr>
            <a:xfrm>
              <a:off x="3143202" y="3908295"/>
              <a:ext cx="734689" cy="680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Cable</a:t>
              </a:r>
            </a:p>
            <a:p>
              <a:pPr algn="ctr"/>
              <a:r>
                <a:rPr lang="en-US" sz="800" dirty="0"/>
                <a:t>Segment</a:t>
              </a:r>
            </a:p>
          </p:txBody>
        </p:sp>
        <p:cxnSp>
          <p:nvCxnSpPr>
            <p:cNvPr id="276" name="直接连接符 55">
              <a:extLst>
                <a:ext uri="{FF2B5EF4-FFF2-40B4-BE49-F238E27FC236}">
                  <a16:creationId xmlns:a16="http://schemas.microsoft.com/office/drawing/2014/main" id="{B6AE7998-060D-AE19-F9D0-FD68F68B8CE6}"/>
                </a:ext>
              </a:extLst>
            </p:cNvPr>
            <p:cNvCxnSpPr>
              <a:cxnSpLocks/>
            </p:cNvCxnSpPr>
            <p:nvPr/>
          </p:nvCxnSpPr>
          <p:spPr>
            <a:xfrm>
              <a:off x="3105534" y="3929480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箭头连接符 225">
              <a:extLst>
                <a:ext uri="{FF2B5EF4-FFF2-40B4-BE49-F238E27FC236}">
                  <a16:creationId xmlns:a16="http://schemas.microsoft.com/office/drawing/2014/main" id="{F617B7D2-1958-48E6-AB23-D3FD9BFB7B8E}"/>
                </a:ext>
              </a:extLst>
            </p:cNvPr>
            <p:cNvCxnSpPr>
              <a:cxnSpLocks/>
            </p:cNvCxnSpPr>
            <p:nvPr/>
          </p:nvCxnSpPr>
          <p:spPr>
            <a:xfrm>
              <a:off x="3143202" y="4392921"/>
              <a:ext cx="72458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55">
              <a:extLst>
                <a:ext uri="{FF2B5EF4-FFF2-40B4-BE49-F238E27FC236}">
                  <a16:creationId xmlns:a16="http://schemas.microsoft.com/office/drawing/2014/main" id="{97EA4A08-2BF2-4530-AF1F-3DD6313ACB24}"/>
                </a:ext>
              </a:extLst>
            </p:cNvPr>
            <p:cNvCxnSpPr>
              <a:cxnSpLocks/>
            </p:cNvCxnSpPr>
            <p:nvPr/>
          </p:nvCxnSpPr>
          <p:spPr>
            <a:xfrm>
              <a:off x="2735801" y="3929480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114C33A4-B9FE-21FC-CB04-4CC6195ACBB0}"/>
                </a:ext>
              </a:extLst>
            </p:cNvPr>
            <p:cNvSpPr txBox="1"/>
            <p:nvPr/>
          </p:nvSpPr>
          <p:spPr>
            <a:xfrm>
              <a:off x="1954319" y="3908295"/>
              <a:ext cx="734689" cy="680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Cable</a:t>
              </a:r>
            </a:p>
            <a:p>
              <a:pPr algn="ctr"/>
              <a:r>
                <a:rPr lang="en-US" sz="800" dirty="0"/>
                <a:t>Segment</a:t>
              </a:r>
            </a:p>
          </p:txBody>
        </p:sp>
        <p:cxnSp>
          <p:nvCxnSpPr>
            <p:cNvPr id="280" name="直接连接符 55">
              <a:extLst>
                <a:ext uri="{FF2B5EF4-FFF2-40B4-BE49-F238E27FC236}">
                  <a16:creationId xmlns:a16="http://schemas.microsoft.com/office/drawing/2014/main" id="{98093A3F-915A-40FB-5A92-E8820B00E4AD}"/>
                </a:ext>
              </a:extLst>
            </p:cNvPr>
            <p:cNvCxnSpPr>
              <a:cxnSpLocks/>
            </p:cNvCxnSpPr>
            <p:nvPr/>
          </p:nvCxnSpPr>
          <p:spPr>
            <a:xfrm>
              <a:off x="1916651" y="3929480"/>
              <a:ext cx="0" cy="4634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箭头连接符 225">
              <a:extLst>
                <a:ext uri="{FF2B5EF4-FFF2-40B4-BE49-F238E27FC236}">
                  <a16:creationId xmlns:a16="http://schemas.microsoft.com/office/drawing/2014/main" id="{8A62449D-D796-F9A9-822C-9F2BC257F55C}"/>
                </a:ext>
              </a:extLst>
            </p:cNvPr>
            <p:cNvCxnSpPr>
              <a:cxnSpLocks/>
            </p:cNvCxnSpPr>
            <p:nvPr/>
          </p:nvCxnSpPr>
          <p:spPr>
            <a:xfrm>
              <a:off x="1954319" y="4392921"/>
              <a:ext cx="72458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FCD9C8E1-9F03-4B7F-93F5-8131636B8D60}"/>
                </a:ext>
              </a:extLst>
            </p:cNvPr>
            <p:cNvGrpSpPr/>
            <p:nvPr/>
          </p:nvGrpSpPr>
          <p:grpSpPr>
            <a:xfrm rot="10800000">
              <a:off x="7258372" y="2385689"/>
              <a:ext cx="666086" cy="1520800"/>
              <a:chOff x="4345493" y="2571265"/>
              <a:chExt cx="1134289" cy="1520800"/>
            </a:xfrm>
          </p:grpSpPr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72B82159-3F20-BDBA-1A26-E564A0926263}"/>
                  </a:ext>
                </a:extLst>
              </p:cNvPr>
              <p:cNvSpPr/>
              <p:nvPr/>
            </p:nvSpPr>
            <p:spPr>
              <a:xfrm>
                <a:off x="4345493" y="2571265"/>
                <a:ext cx="990600" cy="15012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 dirty="0"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9F0FF3D9-4D15-DFC5-2AC2-74B81DF91ABF}"/>
                  </a:ext>
                </a:extLst>
              </p:cNvPr>
              <p:cNvSpPr/>
              <p:nvPr/>
            </p:nvSpPr>
            <p:spPr>
              <a:xfrm>
                <a:off x="4489182" y="2590800"/>
                <a:ext cx="990600" cy="15012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 dirty="0"/>
              </a:p>
            </p:txBody>
          </p:sp>
        </p:grp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9AEC49F3-7560-2700-459B-EADFE49D6A50}"/>
                </a:ext>
              </a:extLst>
            </p:cNvPr>
            <p:cNvSpPr/>
            <p:nvPr/>
          </p:nvSpPr>
          <p:spPr>
            <a:xfrm>
              <a:off x="1647315" y="2737724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A041C359-1E0B-F93D-9BE1-0EC22C9B2CB0}"/>
                </a:ext>
              </a:extLst>
            </p:cNvPr>
            <p:cNvSpPr/>
            <p:nvPr/>
          </p:nvSpPr>
          <p:spPr>
            <a:xfrm>
              <a:off x="1650601" y="3379282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11D942A5-2558-E2D2-328E-00130D3CC3AE}"/>
                </a:ext>
              </a:extLst>
            </p:cNvPr>
            <p:cNvSpPr/>
            <p:nvPr/>
          </p:nvSpPr>
          <p:spPr>
            <a:xfrm>
              <a:off x="10438633" y="2589375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3567A592-D55C-4A08-704C-DE756A1886CB}"/>
                </a:ext>
              </a:extLst>
            </p:cNvPr>
            <p:cNvSpPr/>
            <p:nvPr/>
          </p:nvSpPr>
          <p:spPr>
            <a:xfrm>
              <a:off x="10360332" y="5248805"/>
              <a:ext cx="246632" cy="27273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4</a:t>
              </a:r>
            </a:p>
          </p:txBody>
        </p: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03877243-4AE5-3A61-7E14-82D32A32A5EC}"/>
                </a:ext>
              </a:extLst>
            </p:cNvPr>
            <p:cNvCxnSpPr>
              <a:stCxn id="268" idx="3"/>
              <a:endCxn id="285" idx="1"/>
            </p:cNvCxnSpPr>
            <p:nvPr/>
          </p:nvCxnSpPr>
          <p:spPr>
            <a:xfrm flipV="1">
              <a:off x="1528524" y="2874092"/>
              <a:ext cx="118791" cy="38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54F0E40B-127A-853D-A31A-CE9854F76CB0}"/>
                </a:ext>
              </a:extLst>
            </p:cNvPr>
            <p:cNvCxnSpPr>
              <a:stCxn id="269" idx="3"/>
              <a:endCxn id="286" idx="1"/>
            </p:cNvCxnSpPr>
            <p:nvPr/>
          </p:nvCxnSpPr>
          <p:spPr>
            <a:xfrm flipV="1">
              <a:off x="1534550" y="3515650"/>
              <a:ext cx="116051" cy="136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Connector: Elbow 290">
              <a:extLst>
                <a:ext uri="{FF2B5EF4-FFF2-40B4-BE49-F238E27FC236}">
                  <a16:creationId xmlns:a16="http://schemas.microsoft.com/office/drawing/2014/main" id="{8C2D28E2-9230-25BE-66C5-4325DF89AD55}"/>
                </a:ext>
              </a:extLst>
            </p:cNvPr>
            <p:cNvCxnSpPr>
              <a:stCxn id="222" idx="3"/>
              <a:endCxn id="230" idx="2"/>
            </p:cNvCxnSpPr>
            <p:nvPr/>
          </p:nvCxnSpPr>
          <p:spPr>
            <a:xfrm flipV="1">
              <a:off x="3867784" y="3406216"/>
              <a:ext cx="361003" cy="124595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nector: Elbow 291">
              <a:extLst>
                <a:ext uri="{FF2B5EF4-FFF2-40B4-BE49-F238E27FC236}">
                  <a16:creationId xmlns:a16="http://schemas.microsoft.com/office/drawing/2014/main" id="{D917B677-0CC8-2492-33C6-9C08E98F0775}"/>
                </a:ext>
              </a:extLst>
            </p:cNvPr>
            <p:cNvCxnSpPr>
              <a:stCxn id="263" idx="2"/>
              <a:endCxn id="257" idx="1"/>
            </p:cNvCxnSpPr>
            <p:nvPr/>
          </p:nvCxnSpPr>
          <p:spPr>
            <a:xfrm rot="5400000" flipH="1" flipV="1">
              <a:off x="8291959" y="2690853"/>
              <a:ext cx="104445" cy="22947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nector: Elbow 292">
              <a:extLst>
                <a:ext uri="{FF2B5EF4-FFF2-40B4-BE49-F238E27FC236}">
                  <a16:creationId xmlns:a16="http://schemas.microsoft.com/office/drawing/2014/main" id="{DD9E7157-4EC4-8131-1170-11FDDCAE0DE8}"/>
                </a:ext>
              </a:extLst>
            </p:cNvPr>
            <p:cNvCxnSpPr>
              <a:cxnSpLocks/>
              <a:stCxn id="262" idx="0"/>
              <a:endCxn id="255" idx="1"/>
            </p:cNvCxnSpPr>
            <p:nvPr/>
          </p:nvCxnSpPr>
          <p:spPr>
            <a:xfrm rot="16200000" flipH="1">
              <a:off x="8317870" y="3317531"/>
              <a:ext cx="182831" cy="342968"/>
            </a:xfrm>
            <a:prstGeom prst="bentConnector5">
              <a:avLst>
                <a:gd name="adj1" fmla="val 62516"/>
                <a:gd name="adj2" fmla="val 43599"/>
                <a:gd name="adj3" fmla="val 4269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Connector: Elbow 293">
              <a:extLst>
                <a:ext uri="{FF2B5EF4-FFF2-40B4-BE49-F238E27FC236}">
                  <a16:creationId xmlns:a16="http://schemas.microsoft.com/office/drawing/2014/main" id="{30D58233-D56A-B67E-5ECD-E78BFB980C0D}"/>
                </a:ext>
              </a:extLst>
            </p:cNvPr>
            <p:cNvCxnSpPr>
              <a:stCxn id="220" idx="3"/>
              <a:endCxn id="229" idx="0"/>
            </p:cNvCxnSpPr>
            <p:nvPr/>
          </p:nvCxnSpPr>
          <p:spPr>
            <a:xfrm flipV="1">
              <a:off x="3837414" y="2866426"/>
              <a:ext cx="383018" cy="3281"/>
            </a:xfrm>
            <a:prstGeom prst="bentConnector4">
              <a:avLst>
                <a:gd name="adj1" fmla="val 41712"/>
                <a:gd name="adj2" fmla="val 188259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CF3B5E15-CE62-1234-BC4F-917D8439B816}"/>
                </a:ext>
              </a:extLst>
            </p:cNvPr>
            <p:cNvCxnSpPr>
              <a:stCxn id="287" idx="3"/>
              <a:endCxn id="265" idx="1"/>
            </p:cNvCxnSpPr>
            <p:nvPr/>
          </p:nvCxnSpPr>
          <p:spPr>
            <a:xfrm>
              <a:off x="10685265" y="2725743"/>
              <a:ext cx="177890" cy="541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1D06E0E0-A1C3-291E-1EEF-962AE1698F9A}"/>
                </a:ext>
              </a:extLst>
            </p:cNvPr>
            <p:cNvGrpSpPr/>
            <p:nvPr/>
          </p:nvGrpSpPr>
          <p:grpSpPr>
            <a:xfrm rot="348720">
              <a:off x="8358294" y="4285365"/>
              <a:ext cx="310181" cy="868589"/>
              <a:chOff x="4345493" y="2571265"/>
              <a:chExt cx="1134289" cy="1520800"/>
            </a:xfrm>
          </p:grpSpPr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96F64451-5EB3-C45E-E610-B3B2E0113099}"/>
                  </a:ext>
                </a:extLst>
              </p:cNvPr>
              <p:cNvSpPr/>
              <p:nvPr/>
            </p:nvSpPr>
            <p:spPr>
              <a:xfrm>
                <a:off x="4345493" y="2571265"/>
                <a:ext cx="990600" cy="15012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 dirty="0"/>
              </a:p>
            </p:txBody>
          </p:sp>
          <p:sp>
            <p:nvSpPr>
              <p:cNvPr id="298" name="Oval 297">
                <a:extLst>
                  <a:ext uri="{FF2B5EF4-FFF2-40B4-BE49-F238E27FC236}">
                    <a16:creationId xmlns:a16="http://schemas.microsoft.com/office/drawing/2014/main" id="{41331C1D-C08D-7E9B-619F-F872A52B3B33}"/>
                  </a:ext>
                </a:extLst>
              </p:cNvPr>
              <p:cNvSpPr/>
              <p:nvPr/>
            </p:nvSpPr>
            <p:spPr>
              <a:xfrm>
                <a:off x="4489182" y="2590800"/>
                <a:ext cx="990600" cy="15012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 dirty="0"/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FB8DACFA-BD5B-0A39-7EEB-A065408FF6E5}"/>
                </a:ext>
              </a:extLst>
            </p:cNvPr>
            <p:cNvGrpSpPr/>
            <p:nvPr/>
          </p:nvGrpSpPr>
          <p:grpSpPr>
            <a:xfrm>
              <a:off x="10107289" y="4926864"/>
              <a:ext cx="909319" cy="1566011"/>
              <a:chOff x="4518709" y="3324662"/>
              <a:chExt cx="844550" cy="1418397"/>
            </a:xfrm>
          </p:grpSpPr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021BF1A6-1943-3E02-D376-1788021A14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18709" y="3339132"/>
                <a:ext cx="319104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2499FEE1-A45B-044F-1178-CAA8335FFB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7047" y="3339132"/>
                <a:ext cx="266212" cy="1403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69717D38-F26D-3B11-E3E1-6A4D609C8B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358" y="3324662"/>
                <a:ext cx="0" cy="14183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580DD9AD-83DE-BFE7-5853-4A6DF22E44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57358" y="4600186"/>
                <a:ext cx="77771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D941646F-4395-5274-6B92-72CB417933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31989" y="4278711"/>
                <a:ext cx="6427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0CCEC220-AFD3-5242-7869-4DE77C6DD5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92527" y="4005280"/>
                <a:ext cx="5311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3E72A616-2AA5-6A09-7CEF-FCDD22B36B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015" y="3648092"/>
                <a:ext cx="3990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00396E96-885A-C251-B5FB-063AE46A0A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0647" y="3379006"/>
                <a:ext cx="27258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ED1D917E-5963-99BE-94DB-6726DCC030AD}"/>
                </a:ext>
              </a:extLst>
            </p:cNvPr>
            <p:cNvGrpSpPr/>
            <p:nvPr/>
          </p:nvGrpSpPr>
          <p:grpSpPr>
            <a:xfrm rot="11483015">
              <a:off x="10108637" y="5030214"/>
              <a:ext cx="255073" cy="685942"/>
              <a:chOff x="4345493" y="2571265"/>
              <a:chExt cx="1134289" cy="1520800"/>
            </a:xfrm>
          </p:grpSpPr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E5C8DD02-9F1E-7B1F-DF44-E996F85AE109}"/>
                  </a:ext>
                </a:extLst>
              </p:cNvPr>
              <p:cNvSpPr/>
              <p:nvPr/>
            </p:nvSpPr>
            <p:spPr>
              <a:xfrm>
                <a:off x="4345493" y="2571265"/>
                <a:ext cx="990600" cy="150126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 dirty="0"/>
              </a:p>
            </p:txBody>
          </p:sp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13E11C49-DBBF-5E13-480F-6E22A4B2C02A}"/>
                  </a:ext>
                </a:extLst>
              </p:cNvPr>
              <p:cNvSpPr/>
              <p:nvPr/>
            </p:nvSpPr>
            <p:spPr>
              <a:xfrm>
                <a:off x="4489182" y="2590800"/>
                <a:ext cx="990600" cy="15012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 dirty="0"/>
              </a:p>
            </p:txBody>
          </p:sp>
        </p:grp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050949B4-D445-38E8-213E-C7F879F01AA3}"/>
                </a:ext>
              </a:extLst>
            </p:cNvPr>
            <p:cNvSpPr txBox="1"/>
            <p:nvPr/>
          </p:nvSpPr>
          <p:spPr>
            <a:xfrm>
              <a:off x="10685997" y="3887445"/>
              <a:ext cx="1395019" cy="525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Radio Unit</a:t>
              </a:r>
            </a:p>
          </p:txBody>
        </p: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067C4803-3918-CA41-C22B-5C655F8BB84C}"/>
                </a:ext>
              </a:extLst>
            </p:cNvPr>
            <p:cNvGrpSpPr/>
            <p:nvPr/>
          </p:nvGrpSpPr>
          <p:grpSpPr>
            <a:xfrm rot="1245345">
              <a:off x="8934279" y="4386273"/>
              <a:ext cx="975290" cy="1334920"/>
              <a:chOff x="8924185" y="4559264"/>
              <a:chExt cx="975290" cy="1334920"/>
            </a:xfrm>
          </p:grpSpPr>
          <p:sp>
            <p:nvSpPr>
              <p:cNvPr id="313" name="Rectangle: Rounded Corners 312">
                <a:extLst>
                  <a:ext uri="{FF2B5EF4-FFF2-40B4-BE49-F238E27FC236}">
                    <a16:creationId xmlns:a16="http://schemas.microsoft.com/office/drawing/2014/main" id="{9CBD73EF-CDB0-8260-A6A7-6879A9EB5E11}"/>
                  </a:ext>
                </a:extLst>
              </p:cNvPr>
              <p:cNvSpPr/>
              <p:nvPr/>
            </p:nvSpPr>
            <p:spPr>
              <a:xfrm>
                <a:off x="8924185" y="4559264"/>
                <a:ext cx="975290" cy="1334920"/>
              </a:xfrm>
              <a:prstGeom prst="round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300" dirty="0" err="1">
                    <a:solidFill>
                      <a:schemeClr val="tx1"/>
                    </a:solidFill>
                  </a:rPr>
                  <a:t>Atmospheric</a:t>
                </a:r>
                <a:r>
                  <a:rPr lang="de-DE" sz="300" dirty="0">
                    <a:solidFill>
                      <a:schemeClr val="tx1"/>
                    </a:solidFill>
                  </a:rPr>
                  <a:t>-link</a:t>
                </a:r>
                <a:endParaRPr lang="LID4096" sz="3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C63369CB-AE0F-7B08-6FE9-17CE7D18925F}"/>
                  </a:ext>
                </a:extLst>
              </p:cNvPr>
              <p:cNvGrpSpPr/>
              <p:nvPr/>
            </p:nvGrpSpPr>
            <p:grpSpPr>
              <a:xfrm>
                <a:off x="9220102" y="5049123"/>
                <a:ext cx="383455" cy="588315"/>
                <a:chOff x="6159150" y="4092338"/>
                <a:chExt cx="566687" cy="783789"/>
              </a:xfrm>
            </p:grpSpPr>
            <p:sp>
              <p:nvSpPr>
                <p:cNvPr id="316" name="Block Arc 315">
                  <a:extLst>
                    <a:ext uri="{FF2B5EF4-FFF2-40B4-BE49-F238E27FC236}">
                      <a16:creationId xmlns:a16="http://schemas.microsoft.com/office/drawing/2014/main" id="{70A567E0-DD40-C703-AA0D-24FEFC7F868D}"/>
                    </a:ext>
                  </a:extLst>
                </p:cNvPr>
                <p:cNvSpPr/>
                <p:nvPr/>
              </p:nvSpPr>
              <p:spPr>
                <a:xfrm rot="5400000">
                  <a:off x="6092293" y="4242583"/>
                  <a:ext cx="783789" cy="483299"/>
                </a:xfrm>
                <a:prstGeom prst="blockArc">
                  <a:avLst>
                    <a:gd name="adj1" fmla="val 10800000"/>
                    <a:gd name="adj2" fmla="val 21070430"/>
                    <a:gd name="adj3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0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7" name="Block Arc 316">
                  <a:extLst>
                    <a:ext uri="{FF2B5EF4-FFF2-40B4-BE49-F238E27FC236}">
                      <a16:creationId xmlns:a16="http://schemas.microsoft.com/office/drawing/2014/main" id="{6CD056F5-422D-93C8-E3BE-C8FE8478CBAF}"/>
                    </a:ext>
                  </a:extLst>
                </p:cNvPr>
                <p:cNvSpPr/>
                <p:nvPr/>
              </p:nvSpPr>
              <p:spPr>
                <a:xfrm rot="5400000">
                  <a:off x="6058675" y="4335456"/>
                  <a:ext cx="467164" cy="266213"/>
                </a:xfrm>
                <a:prstGeom prst="blockArc">
                  <a:avLst>
                    <a:gd name="adj1" fmla="val 10800000"/>
                    <a:gd name="adj2" fmla="val 21070430"/>
                    <a:gd name="adj3" fmla="val 0"/>
                  </a:avLst>
                </a:prstGeom>
                <a:ln cap="rnd"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8" name="Block Arc 317">
                  <a:extLst>
                    <a:ext uri="{FF2B5EF4-FFF2-40B4-BE49-F238E27FC236}">
                      <a16:creationId xmlns:a16="http://schemas.microsoft.com/office/drawing/2014/main" id="{4E4E497D-0EDF-52F6-9492-1E96C07C5C18}"/>
                    </a:ext>
                  </a:extLst>
                </p:cNvPr>
                <p:cNvSpPr/>
                <p:nvPr/>
              </p:nvSpPr>
              <p:spPr>
                <a:xfrm rot="5400000">
                  <a:off x="6116113" y="4286638"/>
                  <a:ext cx="577541" cy="384422"/>
                </a:xfrm>
                <a:prstGeom prst="blockArc">
                  <a:avLst>
                    <a:gd name="adj1" fmla="val 10800000"/>
                    <a:gd name="adj2" fmla="val 21070430"/>
                    <a:gd name="adj3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05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14D7B28C-CA76-F459-58A3-660321927D38}"/>
                  </a:ext>
                </a:extLst>
              </p:cNvPr>
              <p:cNvSpPr txBox="1"/>
              <p:nvPr/>
            </p:nvSpPr>
            <p:spPr>
              <a:xfrm>
                <a:off x="9170011" y="5606001"/>
                <a:ext cx="720356" cy="278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" dirty="0"/>
                  <a:t>ITU-R P.530</a:t>
                </a:r>
              </a:p>
            </p:txBody>
          </p: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48CA7194-C667-367D-5D49-A2CE3B1D60D0}"/>
                </a:ext>
              </a:extLst>
            </p:cNvPr>
            <p:cNvGrpSpPr/>
            <p:nvPr/>
          </p:nvGrpSpPr>
          <p:grpSpPr>
            <a:xfrm>
              <a:off x="10924422" y="5104572"/>
              <a:ext cx="918167" cy="834383"/>
              <a:chOff x="10988163" y="5180771"/>
              <a:chExt cx="918167" cy="834383"/>
            </a:xfrm>
          </p:grpSpPr>
          <p:sp>
            <p:nvSpPr>
              <p:cNvPr id="320" name="Rectangle: Rounded Corners 319">
                <a:extLst>
                  <a:ext uri="{FF2B5EF4-FFF2-40B4-BE49-F238E27FC236}">
                    <a16:creationId xmlns:a16="http://schemas.microsoft.com/office/drawing/2014/main" id="{A4982B0C-CD98-6E14-84E7-581E7CC1CC58}"/>
                  </a:ext>
                </a:extLst>
              </p:cNvPr>
              <p:cNvSpPr/>
              <p:nvPr/>
            </p:nvSpPr>
            <p:spPr>
              <a:xfrm>
                <a:off x="11003403" y="5180771"/>
                <a:ext cx="708638" cy="74044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50"/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52283E78-3308-CC1E-CC3A-A0DD54EE4D50}"/>
                  </a:ext>
                </a:extLst>
              </p:cNvPr>
              <p:cNvSpPr/>
              <p:nvPr/>
            </p:nvSpPr>
            <p:spPr>
              <a:xfrm>
                <a:off x="11074442" y="5356421"/>
                <a:ext cx="558716" cy="209902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00" dirty="0">
                    <a:solidFill>
                      <a:schemeClr val="tx1"/>
                    </a:solidFill>
                  </a:rPr>
                  <a:t>Carrier</a:t>
                </a:r>
              </a:p>
            </p:txBody>
          </p:sp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996F0693-71AE-B16A-C2A4-15A7D08ACE1F}"/>
                  </a:ext>
                </a:extLst>
              </p:cNvPr>
              <p:cNvSpPr txBox="1"/>
              <p:nvPr/>
            </p:nvSpPr>
            <p:spPr>
              <a:xfrm>
                <a:off x="10988163" y="5675000"/>
                <a:ext cx="918167" cy="340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Radio Unit</a:t>
                </a:r>
              </a:p>
            </p:txBody>
          </p:sp>
        </p:grpSp>
        <p:sp>
          <p:nvSpPr>
            <p:cNvPr id="323" name="Right Brace 322">
              <a:extLst>
                <a:ext uri="{FF2B5EF4-FFF2-40B4-BE49-F238E27FC236}">
                  <a16:creationId xmlns:a16="http://schemas.microsoft.com/office/drawing/2014/main" id="{877941EA-7DEB-5EF7-2F63-438AA67DA38F}"/>
                </a:ext>
              </a:extLst>
            </p:cNvPr>
            <p:cNvSpPr/>
            <p:nvPr/>
          </p:nvSpPr>
          <p:spPr>
            <a:xfrm rot="16200000">
              <a:off x="2940901" y="154183"/>
              <a:ext cx="246632" cy="3378925"/>
            </a:xfrm>
            <a:prstGeom prst="rightBrace">
              <a:avLst>
                <a:gd name="adj1" fmla="val 94842"/>
                <a:gd name="adj2" fmla="val 4995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 sz="1050"/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731A6115-3E88-51F0-E57E-27BB020869CE}"/>
                </a:ext>
              </a:extLst>
            </p:cNvPr>
            <p:cNvSpPr txBox="1"/>
            <p:nvPr/>
          </p:nvSpPr>
          <p:spPr>
            <a:xfrm>
              <a:off x="2029890" y="1482105"/>
              <a:ext cx="2068653" cy="43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Split mount</a:t>
              </a:r>
            </a:p>
          </p:txBody>
        </p: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2772DC07-BD59-8C34-0882-6CAC734F0773}"/>
                </a:ext>
              </a:extLst>
            </p:cNvPr>
            <p:cNvCxnSpPr>
              <a:cxnSpLocks/>
              <a:stCxn id="288" idx="3"/>
              <a:endCxn id="321" idx="1"/>
            </p:cNvCxnSpPr>
            <p:nvPr/>
          </p:nvCxnSpPr>
          <p:spPr>
            <a:xfrm>
              <a:off x="10606964" y="5385173"/>
              <a:ext cx="4037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6" name="Right Brace 325">
              <a:extLst>
                <a:ext uri="{FF2B5EF4-FFF2-40B4-BE49-F238E27FC236}">
                  <a16:creationId xmlns:a16="http://schemas.microsoft.com/office/drawing/2014/main" id="{E5E2BB8B-AB03-5D06-11F1-BD01A8488A97}"/>
                </a:ext>
              </a:extLst>
            </p:cNvPr>
            <p:cNvSpPr/>
            <p:nvPr/>
          </p:nvSpPr>
          <p:spPr>
            <a:xfrm rot="16200000">
              <a:off x="10694884" y="4309898"/>
              <a:ext cx="246632" cy="1071201"/>
            </a:xfrm>
            <a:prstGeom prst="rightBrace">
              <a:avLst>
                <a:gd name="adj1" fmla="val 94842"/>
                <a:gd name="adj2" fmla="val 4995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 sz="1050"/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930E99E6-39A8-256F-B753-DAA6F13058AC}"/>
                </a:ext>
              </a:extLst>
            </p:cNvPr>
            <p:cNvSpPr txBox="1"/>
            <p:nvPr/>
          </p:nvSpPr>
          <p:spPr>
            <a:xfrm>
              <a:off x="9764804" y="4491238"/>
              <a:ext cx="2068653" cy="43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Direct mount</a:t>
              </a:r>
            </a:p>
          </p:txBody>
        </p:sp>
        <p:sp>
          <p:nvSpPr>
            <p:cNvPr id="328" name="Rectangle: Rounded Corners 327">
              <a:extLst>
                <a:ext uri="{FF2B5EF4-FFF2-40B4-BE49-F238E27FC236}">
                  <a16:creationId xmlns:a16="http://schemas.microsoft.com/office/drawing/2014/main" id="{FE4BD2DE-66E2-F2E3-7513-83D1FD7F3411}"/>
                </a:ext>
              </a:extLst>
            </p:cNvPr>
            <p:cNvSpPr/>
            <p:nvPr/>
          </p:nvSpPr>
          <p:spPr>
            <a:xfrm rot="5400000">
              <a:off x="8473372" y="3764696"/>
              <a:ext cx="214795" cy="651427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300" dirty="0">
                  <a:solidFill>
                    <a:schemeClr val="tx1"/>
                  </a:solidFill>
                </a:rPr>
                <a:t>HPA</a:t>
              </a:r>
              <a:endParaRPr lang="LID4096" sz="300" dirty="0"/>
            </a:p>
          </p:txBody>
        </p: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3F202D98-AF9E-C876-CD4F-BD7A29924A4F}"/>
                </a:ext>
              </a:extLst>
            </p:cNvPr>
            <p:cNvCxnSpPr>
              <a:stCxn id="255" idx="3"/>
              <a:endCxn id="328" idx="1"/>
            </p:cNvCxnSpPr>
            <p:nvPr/>
          </p:nvCxnSpPr>
          <p:spPr>
            <a:xfrm>
              <a:off x="8580769" y="3795226"/>
              <a:ext cx="0" cy="1877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Connector: Elbow 329">
              <a:extLst>
                <a:ext uri="{FF2B5EF4-FFF2-40B4-BE49-F238E27FC236}">
                  <a16:creationId xmlns:a16="http://schemas.microsoft.com/office/drawing/2014/main" id="{CB7E71DA-ABEE-1075-7B81-41B5B0431805}"/>
                </a:ext>
              </a:extLst>
            </p:cNvPr>
            <p:cNvCxnSpPr>
              <a:stCxn id="328" idx="3"/>
              <a:endCxn id="298" idx="2"/>
            </p:cNvCxnSpPr>
            <p:nvPr/>
          </p:nvCxnSpPr>
          <p:spPr>
            <a:xfrm rot="5400000">
              <a:off x="8231355" y="4364069"/>
              <a:ext cx="515676" cy="183152"/>
            </a:xfrm>
            <a:prstGeom prst="bentConnector4">
              <a:avLst>
                <a:gd name="adj1" fmla="val 9400"/>
                <a:gd name="adj2" fmla="val 22519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3" name="TextBox 332">
            <a:extLst>
              <a:ext uri="{FF2B5EF4-FFF2-40B4-BE49-F238E27FC236}">
                <a16:creationId xmlns:a16="http://schemas.microsoft.com/office/drawing/2014/main" id="{5DF00A20-510B-E9E3-08F8-EE90651BAD28}"/>
              </a:ext>
            </a:extLst>
          </p:cNvPr>
          <p:cNvSpPr txBox="1"/>
          <p:nvPr/>
        </p:nvSpPr>
        <p:spPr>
          <a:xfrm>
            <a:off x="84582" y="1506022"/>
            <a:ext cx="1122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Option 1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40C4BA57-C4F7-61D8-1C2C-3B53878A26BB}"/>
              </a:ext>
            </a:extLst>
          </p:cNvPr>
          <p:cNvSpPr txBox="1"/>
          <p:nvPr/>
        </p:nvSpPr>
        <p:spPr>
          <a:xfrm>
            <a:off x="84582" y="3838853"/>
            <a:ext cx="1122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Option 2</a:t>
            </a:r>
          </a:p>
        </p:txBody>
      </p:sp>
      <p:sp>
        <p:nvSpPr>
          <p:cNvPr id="335" name="Footer Placeholder 3">
            <a:extLst>
              <a:ext uri="{FF2B5EF4-FFF2-40B4-BE49-F238E27FC236}">
                <a16:creationId xmlns:a16="http://schemas.microsoft.com/office/drawing/2014/main" id="{B442834B-0114-DDF7-4D3B-A48F968A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  <p:sp>
        <p:nvSpPr>
          <p:cNvPr id="336" name="Date Placeholder 1">
            <a:extLst>
              <a:ext uri="{FF2B5EF4-FFF2-40B4-BE49-F238E27FC236}">
                <a16:creationId xmlns:a16="http://schemas.microsoft.com/office/drawing/2014/main" id="{BA39AC08-A7F7-7375-A70F-A5C46CBF66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</p:spTree>
    <p:extLst>
      <p:ext uri="{BB962C8B-B14F-4D97-AF65-F5344CB8AC3E}">
        <p14:creationId xmlns:p14="http://schemas.microsoft.com/office/powerpoint/2010/main" val="1781069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62A94-EAA7-945C-67A2-D266E8D1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FFBC-BC48-DC4E-EF1D-E3CAEC755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Clarification on Terminologies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C981-2BF3-D9F2-F473-E8D1EFB98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888"/>
            <a:ext cx="11158728" cy="47870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Passive component </a:t>
            </a:r>
          </a:p>
          <a:p>
            <a:pPr lvl="1"/>
            <a:r>
              <a:rPr lang="en-US" dirty="0"/>
              <a:t>Physical component that is undetectable, inside &amp; outside a box (NE)</a:t>
            </a:r>
          </a:p>
          <a:p>
            <a:r>
              <a:rPr lang="en-US" dirty="0"/>
              <a:t>Cable</a:t>
            </a:r>
          </a:p>
          <a:p>
            <a:pPr lvl="1"/>
            <a:r>
              <a:rPr lang="en-US" dirty="0"/>
              <a:t>The definition currently covers only fiber optical cable. Need to be generalized to support other types of cables, e.g. Ethernet or electric cable, and waveguide</a:t>
            </a:r>
          </a:p>
          <a:p>
            <a:pPr lvl="1"/>
            <a:r>
              <a:rPr lang="en-US" dirty="0"/>
              <a:t>A cable can contain multiple cable segments connected/spliced through connectors​</a:t>
            </a:r>
          </a:p>
          <a:p>
            <a:pPr lvl="1"/>
            <a:r>
              <a:rPr lang="en-US" dirty="0"/>
              <a:t>A fiber cable can contain multiple fiber cores </a:t>
            </a:r>
          </a:p>
          <a:p>
            <a:r>
              <a:rPr lang="en-US" dirty="0"/>
              <a:t>Fiber core</a:t>
            </a:r>
          </a:p>
          <a:p>
            <a:pPr lvl="1"/>
            <a:r>
              <a:rPr lang="en-US" dirty="0"/>
              <a:t>A fiber core is an un-</a:t>
            </a:r>
            <a:r>
              <a:rPr lang="en-US" dirty="0" err="1"/>
              <a:t>splittable</a:t>
            </a:r>
            <a:r>
              <a:rPr lang="en-US" dirty="0"/>
              <a:t> physical line contained within a fiber optical cable that guides the light through (a.k.a. a “strand”) </a:t>
            </a:r>
          </a:p>
          <a:p>
            <a:r>
              <a:rPr lang="en-US" dirty="0"/>
              <a:t>Physical Span (out of scope)</a:t>
            </a:r>
          </a:p>
          <a:p>
            <a:pPr lvl="1"/>
            <a:r>
              <a:rPr lang="en-US" dirty="0"/>
              <a:t>Clarified that a physical span represents end-to-end connectivity between connectors of inventory ports, and is a functional concept, so out of scope</a:t>
            </a:r>
          </a:p>
          <a:p>
            <a:pPr lvl="1"/>
            <a:r>
              <a:rPr lang="en-US" b="0" i="0" dirty="0">
                <a:solidFill>
                  <a:srgbClr val="1F2328"/>
                </a:solidFill>
                <a:effectLst/>
              </a:rPr>
              <a:t>Physical span can be p2p or mp2mp, which can be modeled as a (p2p or mp2mp) link using the Network Inventory Topology model in </a:t>
            </a:r>
            <a:r>
              <a:rPr lang="en-US" b="0" i="0" u="sng" dirty="0">
                <a:effectLst/>
                <a:hlinkClick r:id="rId2"/>
              </a:rPr>
              <a:t>draft-</a:t>
            </a:r>
            <a:r>
              <a:rPr lang="en-US" b="0" i="0" u="sng" dirty="0" err="1">
                <a:effectLst/>
                <a:hlinkClick r:id="rId2"/>
              </a:rPr>
              <a:t>ietf</a:t>
            </a:r>
            <a:r>
              <a:rPr lang="en-US" b="0" i="0" u="sng" dirty="0">
                <a:effectLst/>
                <a:hlinkClick r:id="rId2"/>
              </a:rPr>
              <a:t>-ivy-network-inventory-topology</a:t>
            </a:r>
            <a:r>
              <a:rPr lang="en-US" b="0" i="0" dirty="0">
                <a:solidFill>
                  <a:srgbClr val="1F2328"/>
                </a:solidFill>
                <a:effectLst/>
              </a:rPr>
              <a:t>, which augments RFC8345.</a:t>
            </a:r>
            <a:endParaRPr lang="en-US" dirty="0"/>
          </a:p>
          <a:p>
            <a:pPr lvl="1"/>
            <a:r>
              <a:rPr lang="en-US" dirty="0"/>
              <a:t>For access a similar concept is PON optical path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1BE1-7B26-73D8-653B-275A3754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A126D4-CCE7-04EF-0399-48EA782C0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0C8FFE1-3D6C-1E55-7425-AE65CB8C23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</p:spTree>
    <p:extLst>
      <p:ext uri="{BB962C8B-B14F-4D97-AF65-F5344CB8AC3E}">
        <p14:creationId xmlns:p14="http://schemas.microsoft.com/office/powerpoint/2010/main" val="326100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1F1C1-808A-5C32-BA62-8881B895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D98C-53A3-D49C-EA67-2928CE39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8728" cy="1325563"/>
          </a:xfrm>
        </p:spPr>
        <p:txBody>
          <a:bodyPr/>
          <a:lstStyle/>
          <a:p>
            <a:r>
              <a:rPr lang="en-US" dirty="0"/>
              <a:t>Modeling Methodology: Topology or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B625B-E258-1CB5-51C3-ADFB13CB3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208" y="1690688"/>
            <a:ext cx="11158728" cy="4787075"/>
          </a:xfrm>
        </p:spPr>
        <p:txBody>
          <a:bodyPr>
            <a:normAutofit/>
          </a:bodyPr>
          <a:lstStyle/>
          <a:p>
            <a:r>
              <a:rPr lang="en-US" dirty="0"/>
              <a:t>There are comments about whether to separate the topology aspect of passive infrastructure from the inventory aspect</a:t>
            </a:r>
          </a:p>
          <a:p>
            <a:pPr lvl="1"/>
            <a:r>
              <a:rPr lang="en-US" dirty="0"/>
              <a:t>Topology aspect: how a cable/cable segment is connected to ports on NE or passive device, how fiber cores are routed within a passive device, e.g. an ODF</a:t>
            </a:r>
          </a:p>
          <a:p>
            <a:pPr lvl="1"/>
            <a:r>
              <a:rPr lang="en-US" dirty="0"/>
              <a:t>Inventory aspect: the passive device / component itself with attributes</a:t>
            </a:r>
          </a:p>
          <a:p>
            <a:r>
              <a:rPr lang="en-US" dirty="0"/>
              <a:t>And how to connect inventory to topology</a:t>
            </a:r>
          </a:p>
          <a:p>
            <a:pPr lvl="1"/>
            <a:r>
              <a:rPr lang="en-US" dirty="0"/>
              <a:t>Do we need a layer of “physical topology” to describe the topology aspect of passive inventory, and use the model defined in </a:t>
            </a:r>
            <a:r>
              <a:rPr lang="en-US" b="0" i="0" u="sng" dirty="0">
                <a:effectLst/>
                <a:hlinkClick r:id="rId2"/>
              </a:rPr>
              <a:t>draft-</a:t>
            </a:r>
            <a:r>
              <a:rPr lang="en-US" b="0" i="0" u="sng" dirty="0" err="1">
                <a:effectLst/>
                <a:hlinkClick r:id="rId2"/>
              </a:rPr>
              <a:t>ietf</a:t>
            </a:r>
            <a:r>
              <a:rPr lang="en-US" b="0" i="0" u="sng" dirty="0">
                <a:effectLst/>
                <a:hlinkClick r:id="rId2"/>
              </a:rPr>
              <a:t>-ivy-network-inventory-topology</a:t>
            </a:r>
            <a:r>
              <a:rPr lang="en-US" b="0" i="0" u="sng" dirty="0">
                <a:effectLst/>
                <a:latin typeface="-apple-system"/>
              </a:rPr>
              <a:t> </a:t>
            </a:r>
            <a:r>
              <a:rPr lang="en-US" dirty="0"/>
              <a:t>for the mapping between inventory and topology?</a:t>
            </a:r>
          </a:p>
          <a:p>
            <a:pPr lvl="1"/>
            <a:r>
              <a:rPr lang="en-US" dirty="0"/>
              <a:t>This is also under consideration in SIMAP</a:t>
            </a:r>
          </a:p>
          <a:p>
            <a:r>
              <a:rPr lang="en-US" dirty="0"/>
              <a:t>More discussion is needed to conclude the modeling 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97D87-CB3A-DB48-C311-5D1F6E6A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528C6-0479-798D-E512-24B08E3A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C78C094-DBA1-E3AC-F3C4-1F7B3B65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</p:spTree>
    <p:extLst>
      <p:ext uri="{BB962C8B-B14F-4D97-AF65-F5344CB8AC3E}">
        <p14:creationId xmlns:p14="http://schemas.microsoft.com/office/powerpoint/2010/main" val="107450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0269-8B7F-36AC-9CBA-EDAFB43E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C8A9-C7AA-0AB3-004D-927BCC587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Possible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06B34-2287-722E-87F7-7F9E6F105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7B41DEE-0D91-C403-1963-86D4B4334BFB}"/>
              </a:ext>
            </a:extLst>
          </p:cNvPr>
          <p:cNvGrpSpPr/>
          <p:nvPr/>
        </p:nvGrpSpPr>
        <p:grpSpPr>
          <a:xfrm>
            <a:off x="838200" y="1289304"/>
            <a:ext cx="10846493" cy="4910328"/>
            <a:chOff x="442897" y="168262"/>
            <a:chExt cx="11820916" cy="65214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D86E77-5F81-4AB2-ACC8-86FE3E51E2FA}"/>
                </a:ext>
              </a:extLst>
            </p:cNvPr>
            <p:cNvSpPr/>
            <p:nvPr/>
          </p:nvSpPr>
          <p:spPr>
            <a:xfrm>
              <a:off x="970973" y="4668833"/>
              <a:ext cx="1865376" cy="17131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NE1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BDFF42-55A7-45EF-ACB0-EFB232D6F09E}"/>
                </a:ext>
              </a:extLst>
            </p:cNvPr>
            <p:cNvSpPr/>
            <p:nvPr/>
          </p:nvSpPr>
          <p:spPr>
            <a:xfrm>
              <a:off x="9804077" y="4668833"/>
              <a:ext cx="1865376" cy="17131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NE2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9F290C-A3C4-495E-95B7-935B85F8A3FE}"/>
                </a:ext>
              </a:extLst>
            </p:cNvPr>
            <p:cNvSpPr/>
            <p:nvPr/>
          </p:nvSpPr>
          <p:spPr>
            <a:xfrm>
              <a:off x="2507165" y="4668833"/>
              <a:ext cx="329184" cy="171312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D6B0BE-8A69-440F-B4B4-6CAA6C79DA8F}"/>
                </a:ext>
              </a:extLst>
            </p:cNvPr>
            <p:cNvSpPr/>
            <p:nvPr/>
          </p:nvSpPr>
          <p:spPr>
            <a:xfrm>
              <a:off x="9804077" y="4668833"/>
              <a:ext cx="329184" cy="171312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3DB596A-65B2-4A9D-A193-F43DB80D1137}"/>
                </a:ext>
              </a:extLst>
            </p:cNvPr>
            <p:cNvSpPr/>
            <p:nvPr/>
          </p:nvSpPr>
          <p:spPr>
            <a:xfrm>
              <a:off x="2758625" y="4915721"/>
              <a:ext cx="155448" cy="164592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C44BEEE-C7AE-4F88-9DC5-DB17FCB2C161}"/>
                </a:ext>
              </a:extLst>
            </p:cNvPr>
            <p:cNvSpPr/>
            <p:nvPr/>
          </p:nvSpPr>
          <p:spPr>
            <a:xfrm>
              <a:off x="9726353" y="4915721"/>
              <a:ext cx="155448" cy="164592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BB76F24-A1B6-4772-AC07-21EBA1B00CF0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>
              <a:off x="2914073" y="4998017"/>
              <a:ext cx="97383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5BBF4A3-FA2A-439E-B09C-0C85608CBC92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>
              <a:off x="8752517" y="4998017"/>
              <a:ext cx="97383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6457B2-C3C5-4242-BD58-DAF17840AF83}"/>
                </a:ext>
              </a:extLst>
            </p:cNvPr>
            <p:cNvSpPr/>
            <p:nvPr/>
          </p:nvSpPr>
          <p:spPr>
            <a:xfrm>
              <a:off x="3887909" y="4668833"/>
              <a:ext cx="329184" cy="171312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Patch Panel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761EDB-C7E6-440A-BC2E-B287C5FD0E84}"/>
                </a:ext>
              </a:extLst>
            </p:cNvPr>
            <p:cNvSpPr/>
            <p:nvPr/>
          </p:nvSpPr>
          <p:spPr>
            <a:xfrm>
              <a:off x="8423333" y="4668833"/>
              <a:ext cx="329184" cy="171312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Patch Panel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B288317-1C73-4AE8-94A9-098CD0C7C54E}"/>
                </a:ext>
              </a:extLst>
            </p:cNvPr>
            <p:cNvCxnSpPr/>
            <p:nvPr/>
          </p:nvCxnSpPr>
          <p:spPr>
            <a:xfrm>
              <a:off x="4217093" y="5592377"/>
              <a:ext cx="420624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ylinder 19">
              <a:extLst>
                <a:ext uri="{FF2B5EF4-FFF2-40B4-BE49-F238E27FC236}">
                  <a16:creationId xmlns:a16="http://schemas.microsoft.com/office/drawing/2014/main" id="{589BFABC-8E42-47F7-98D3-BB75957F5798}"/>
                </a:ext>
              </a:extLst>
            </p:cNvPr>
            <p:cNvSpPr/>
            <p:nvPr/>
          </p:nvSpPr>
          <p:spPr>
            <a:xfrm rot="16200000">
              <a:off x="5826437" y="3923597"/>
              <a:ext cx="914400" cy="3822192"/>
            </a:xfrm>
            <a:prstGeom prst="ca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TextBox 26">
              <a:extLst>
                <a:ext uri="{FF2B5EF4-FFF2-40B4-BE49-F238E27FC236}">
                  <a16:creationId xmlns:a16="http://schemas.microsoft.com/office/drawing/2014/main" id="{6828FCA6-D518-433D-A5D3-C71EB1F02E86}"/>
                </a:ext>
              </a:extLst>
            </p:cNvPr>
            <p:cNvSpPr txBox="1"/>
            <p:nvPr/>
          </p:nvSpPr>
          <p:spPr>
            <a:xfrm>
              <a:off x="5818952" y="5144989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/>
                <a:t>Cable</a:t>
              </a:r>
            </a:p>
          </p:txBody>
        </p:sp>
        <p:sp>
          <p:nvSpPr>
            <p:cNvPr id="22" name="TextBox 27">
              <a:extLst>
                <a:ext uri="{FF2B5EF4-FFF2-40B4-BE49-F238E27FC236}">
                  <a16:creationId xmlns:a16="http://schemas.microsoft.com/office/drawing/2014/main" id="{2D5F8D52-EAAE-4E9A-86C9-3B76D5BF8A2B}"/>
                </a:ext>
              </a:extLst>
            </p:cNvPr>
            <p:cNvSpPr txBox="1"/>
            <p:nvPr/>
          </p:nvSpPr>
          <p:spPr>
            <a:xfrm>
              <a:off x="5792503" y="5547324"/>
              <a:ext cx="5277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/>
                <a:t>Strand</a:t>
              </a:r>
            </a:p>
          </p:txBody>
        </p:sp>
        <p:sp>
          <p:nvSpPr>
            <p:cNvPr id="23" name="TextBox 29">
              <a:extLst>
                <a:ext uri="{FF2B5EF4-FFF2-40B4-BE49-F238E27FC236}">
                  <a16:creationId xmlns:a16="http://schemas.microsoft.com/office/drawing/2014/main" id="{A480E804-EC04-4DA4-82D4-A135BB6089EC}"/>
                </a:ext>
              </a:extLst>
            </p:cNvPr>
            <p:cNvSpPr txBox="1"/>
            <p:nvPr/>
          </p:nvSpPr>
          <p:spPr>
            <a:xfrm>
              <a:off x="3013107" y="5040162"/>
              <a:ext cx="55976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/>
                <a:t>Strand</a:t>
              </a:r>
            </a:p>
          </p:txBody>
        </p:sp>
        <p:sp>
          <p:nvSpPr>
            <p:cNvPr id="24" name="TextBox 30">
              <a:extLst>
                <a:ext uri="{FF2B5EF4-FFF2-40B4-BE49-F238E27FC236}">
                  <a16:creationId xmlns:a16="http://schemas.microsoft.com/office/drawing/2014/main" id="{97F3DC94-B0D2-4D77-9502-ADBFAD8A2C2C}"/>
                </a:ext>
              </a:extLst>
            </p:cNvPr>
            <p:cNvSpPr txBox="1"/>
            <p:nvPr/>
          </p:nvSpPr>
          <p:spPr>
            <a:xfrm>
              <a:off x="8830241" y="5040162"/>
              <a:ext cx="55976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/>
                <a:t>Strand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670F4DD-6D58-429D-AA83-6D28A19DFDDE}"/>
                </a:ext>
              </a:extLst>
            </p:cNvPr>
            <p:cNvCxnSpPr>
              <a:cxnSpLocks/>
            </p:cNvCxnSpPr>
            <p:nvPr/>
          </p:nvCxnSpPr>
          <p:spPr>
            <a:xfrm>
              <a:off x="678365" y="4028753"/>
              <a:ext cx="115854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ECC62951-BE86-4DDD-8746-8CCE48D7A9F1}"/>
                </a:ext>
              </a:extLst>
            </p:cNvPr>
            <p:cNvSpPr/>
            <p:nvPr/>
          </p:nvSpPr>
          <p:spPr>
            <a:xfrm>
              <a:off x="1392805" y="2402092"/>
              <a:ext cx="1008255" cy="77723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solidFill>
                    <a:schemeClr val="tx1"/>
                  </a:solidFill>
                </a:rPr>
                <a:t>Node-X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ECB4021-1584-4DF7-82EC-CBB21F62A0A8}"/>
                </a:ext>
              </a:extLst>
            </p:cNvPr>
            <p:cNvCxnSpPr>
              <a:cxnSpLocks/>
              <a:stCxn id="38" idx="6"/>
              <a:endCxn id="39" idx="2"/>
            </p:cNvCxnSpPr>
            <p:nvPr/>
          </p:nvCxnSpPr>
          <p:spPr>
            <a:xfrm>
              <a:off x="2489452" y="2795277"/>
              <a:ext cx="767612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41">
              <a:extLst>
                <a:ext uri="{FF2B5EF4-FFF2-40B4-BE49-F238E27FC236}">
                  <a16:creationId xmlns:a16="http://schemas.microsoft.com/office/drawing/2014/main" id="{3DD912A7-3435-41FB-A04D-61FA7E30A23C}"/>
                </a:ext>
              </a:extLst>
            </p:cNvPr>
            <p:cNvSpPr txBox="1"/>
            <p:nvPr/>
          </p:nvSpPr>
          <p:spPr>
            <a:xfrm>
              <a:off x="8237225" y="2413127"/>
              <a:ext cx="17457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/>
                <a:t>Abstract Physical Link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06A204E-40DE-4371-AED4-E9919D3AFAB6}"/>
                </a:ext>
              </a:extLst>
            </p:cNvPr>
            <p:cNvCxnSpPr>
              <a:stCxn id="38" idx="4"/>
              <a:endCxn id="13" idx="0"/>
            </p:cNvCxnSpPr>
            <p:nvPr/>
          </p:nvCxnSpPr>
          <p:spPr>
            <a:xfrm>
              <a:off x="2401060" y="2883669"/>
              <a:ext cx="435289" cy="2032052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44">
              <a:extLst>
                <a:ext uri="{FF2B5EF4-FFF2-40B4-BE49-F238E27FC236}">
                  <a16:creationId xmlns:a16="http://schemas.microsoft.com/office/drawing/2014/main" id="{D0BF29C2-C4A2-4A70-B40F-8B701FE6BDEC}"/>
                </a:ext>
              </a:extLst>
            </p:cNvPr>
            <p:cNvSpPr txBox="1"/>
            <p:nvPr/>
          </p:nvSpPr>
          <p:spPr>
            <a:xfrm>
              <a:off x="2585334" y="3657600"/>
              <a:ext cx="9839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LTP-&gt;port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FF39965-E9A4-4A98-BC80-2C99B3081098}"/>
                </a:ext>
              </a:extLst>
            </p:cNvPr>
            <p:cNvCxnSpPr>
              <a:stCxn id="39" idx="4"/>
              <a:endCxn id="14" idx="0"/>
            </p:cNvCxnSpPr>
            <p:nvPr/>
          </p:nvCxnSpPr>
          <p:spPr>
            <a:xfrm flipH="1">
              <a:off x="9804077" y="2883669"/>
              <a:ext cx="449896" cy="2032052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47">
              <a:extLst>
                <a:ext uri="{FF2B5EF4-FFF2-40B4-BE49-F238E27FC236}">
                  <a16:creationId xmlns:a16="http://schemas.microsoft.com/office/drawing/2014/main" id="{9531F970-9AF4-43A1-A3C1-CADAEF565CB9}"/>
                </a:ext>
              </a:extLst>
            </p:cNvPr>
            <p:cNvSpPr txBox="1"/>
            <p:nvPr/>
          </p:nvSpPr>
          <p:spPr>
            <a:xfrm>
              <a:off x="9082449" y="3657600"/>
              <a:ext cx="9839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LTP-&gt;port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F5B64F2-DA1D-4B2E-BE6B-6859FE907C67}"/>
                </a:ext>
              </a:extLst>
            </p:cNvPr>
            <p:cNvCxnSpPr>
              <a:cxnSpLocks/>
              <a:stCxn id="26" idx="2"/>
              <a:endCxn id="7" idx="0"/>
            </p:cNvCxnSpPr>
            <p:nvPr/>
          </p:nvCxnSpPr>
          <p:spPr>
            <a:xfrm>
              <a:off x="1896933" y="3179329"/>
              <a:ext cx="6728" cy="1489504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F36AC75-5362-4BB1-B348-353441BE8828}"/>
                </a:ext>
              </a:extLst>
            </p:cNvPr>
            <p:cNvSpPr/>
            <p:nvPr/>
          </p:nvSpPr>
          <p:spPr>
            <a:xfrm>
              <a:off x="10253973" y="2402092"/>
              <a:ext cx="1008255" cy="77723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solidFill>
                    <a:schemeClr val="tx1"/>
                  </a:solidFill>
                </a:rPr>
                <a:t>Node-Y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C7D7E97-7986-4FB5-8A91-F6649E427B57}"/>
                </a:ext>
              </a:extLst>
            </p:cNvPr>
            <p:cNvCxnSpPr>
              <a:cxnSpLocks/>
              <a:stCxn id="34" idx="2"/>
              <a:endCxn id="8" idx="0"/>
            </p:cNvCxnSpPr>
            <p:nvPr/>
          </p:nvCxnSpPr>
          <p:spPr>
            <a:xfrm flipH="1">
              <a:off x="10736765" y="3179329"/>
              <a:ext cx="21336" cy="1489504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65">
              <a:extLst>
                <a:ext uri="{FF2B5EF4-FFF2-40B4-BE49-F238E27FC236}">
                  <a16:creationId xmlns:a16="http://schemas.microsoft.com/office/drawing/2014/main" id="{EB419C87-DBE6-433E-BD82-E60E094B3FD5}"/>
                </a:ext>
              </a:extLst>
            </p:cNvPr>
            <p:cNvSpPr txBox="1"/>
            <p:nvPr/>
          </p:nvSpPr>
          <p:spPr>
            <a:xfrm>
              <a:off x="845710" y="3669706"/>
              <a:ext cx="1035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Node-&gt;NE</a:t>
              </a:r>
            </a:p>
          </p:txBody>
        </p:sp>
        <p:sp>
          <p:nvSpPr>
            <p:cNvPr id="37" name="TextBox 66">
              <a:extLst>
                <a:ext uri="{FF2B5EF4-FFF2-40B4-BE49-F238E27FC236}">
                  <a16:creationId xmlns:a16="http://schemas.microsoft.com/office/drawing/2014/main" id="{423AC84D-6D53-488B-A101-96A35E95D7AE}"/>
                </a:ext>
              </a:extLst>
            </p:cNvPr>
            <p:cNvSpPr txBox="1"/>
            <p:nvPr/>
          </p:nvSpPr>
          <p:spPr>
            <a:xfrm>
              <a:off x="10713242" y="3669706"/>
              <a:ext cx="1035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Node-&gt;NE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8E54D0D-8410-4E64-B361-ADA29F3271E4}"/>
                </a:ext>
              </a:extLst>
            </p:cNvPr>
            <p:cNvSpPr/>
            <p:nvPr/>
          </p:nvSpPr>
          <p:spPr>
            <a:xfrm>
              <a:off x="2312668" y="2706885"/>
              <a:ext cx="176784" cy="176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B30EFCB-6320-49AE-BE36-55054E8FA45D}"/>
                </a:ext>
              </a:extLst>
            </p:cNvPr>
            <p:cNvSpPr/>
            <p:nvPr/>
          </p:nvSpPr>
          <p:spPr>
            <a:xfrm>
              <a:off x="10165581" y="2706885"/>
              <a:ext cx="176784" cy="176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08031BAB-1F61-4D95-82EB-2C69EFA44426}"/>
                </a:ext>
              </a:extLst>
            </p:cNvPr>
            <p:cNvCxnSpPr>
              <a:cxnSpLocks/>
              <a:stCxn id="13" idx="7"/>
              <a:endCxn id="14" idx="1"/>
            </p:cNvCxnSpPr>
            <p:nvPr/>
          </p:nvCxnSpPr>
          <p:spPr>
            <a:xfrm rot="5400000" flipH="1" flipV="1">
              <a:off x="6320213" y="1510920"/>
              <a:ext cx="12700" cy="6857810"/>
            </a:xfrm>
            <a:prstGeom prst="bentConnector3">
              <a:avLst>
                <a:gd name="adj1" fmla="val 4139795"/>
              </a:avLst>
            </a:prstGeom>
            <a:ln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85EEE38-132F-47A1-939E-D8F8F24D019B}"/>
                </a:ext>
              </a:extLst>
            </p:cNvPr>
            <p:cNvSpPr/>
            <p:nvPr/>
          </p:nvSpPr>
          <p:spPr>
            <a:xfrm>
              <a:off x="2924741" y="4668831"/>
              <a:ext cx="6801612" cy="1713129"/>
            </a:xfrm>
            <a:prstGeom prst="rect">
              <a:avLst/>
            </a:prstGeom>
            <a:solidFill>
              <a:srgbClr val="BFBFBF">
                <a:alpha val="5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TextBox 78">
              <a:extLst>
                <a:ext uri="{FF2B5EF4-FFF2-40B4-BE49-F238E27FC236}">
                  <a16:creationId xmlns:a16="http://schemas.microsoft.com/office/drawing/2014/main" id="{32ECF7F9-7CD2-48F1-BBC1-5AD339904A61}"/>
                </a:ext>
              </a:extLst>
            </p:cNvPr>
            <p:cNvSpPr txBox="1"/>
            <p:nvPr/>
          </p:nvSpPr>
          <p:spPr>
            <a:xfrm>
              <a:off x="8587925" y="4115630"/>
              <a:ext cx="11496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ym typeface="Wingdings" panose="05000000000000000000" pitchFamily="2" charset="2"/>
                </a:rPr>
                <a:t>Physical span</a:t>
              </a:r>
              <a:endParaRPr lang="en-US" sz="1400" dirty="0"/>
            </a:p>
          </p:txBody>
        </p:sp>
        <p:sp>
          <p:nvSpPr>
            <p:cNvPr id="43" name="TextBox 83">
              <a:extLst>
                <a:ext uri="{FF2B5EF4-FFF2-40B4-BE49-F238E27FC236}">
                  <a16:creationId xmlns:a16="http://schemas.microsoft.com/office/drawing/2014/main" id="{64FA0B0B-ADDE-4095-9D52-577C2CB3D97A}"/>
                </a:ext>
              </a:extLst>
            </p:cNvPr>
            <p:cNvSpPr txBox="1"/>
            <p:nvPr/>
          </p:nvSpPr>
          <p:spPr>
            <a:xfrm>
              <a:off x="486499" y="4050922"/>
              <a:ext cx="1941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Network Inventory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4945401-6D94-46AE-884C-114E302E3032}"/>
                </a:ext>
              </a:extLst>
            </p:cNvPr>
            <p:cNvSpPr/>
            <p:nvPr/>
          </p:nvSpPr>
          <p:spPr>
            <a:xfrm>
              <a:off x="961500" y="4668833"/>
              <a:ext cx="329184" cy="171312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2863DE3-878A-4689-9F52-82D26A02E67B}"/>
                </a:ext>
              </a:extLst>
            </p:cNvPr>
            <p:cNvSpPr/>
            <p:nvPr/>
          </p:nvSpPr>
          <p:spPr>
            <a:xfrm>
              <a:off x="1048368" y="6291893"/>
              <a:ext cx="155448" cy="164592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13AA6AB-B0F1-4502-AEE5-F5523E194CC6}"/>
                </a:ext>
              </a:extLst>
            </p:cNvPr>
            <p:cNvSpPr/>
            <p:nvPr/>
          </p:nvSpPr>
          <p:spPr>
            <a:xfrm>
              <a:off x="2599146" y="6299664"/>
              <a:ext cx="155448" cy="164592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FFE64030-F9C3-472D-8A21-AF3735889016}"/>
                </a:ext>
              </a:extLst>
            </p:cNvPr>
            <p:cNvCxnSpPr>
              <a:stCxn id="45" idx="4"/>
              <a:endCxn id="46" idx="4"/>
            </p:cNvCxnSpPr>
            <p:nvPr/>
          </p:nvCxnSpPr>
          <p:spPr>
            <a:xfrm rot="16200000" flipH="1">
              <a:off x="1897596" y="5684981"/>
              <a:ext cx="7771" cy="1550778"/>
            </a:xfrm>
            <a:prstGeom prst="bentConnector3">
              <a:avLst>
                <a:gd name="adj1" fmla="val 3041706"/>
              </a:avLst>
            </a:prstGeom>
            <a:ln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95">
              <a:extLst>
                <a:ext uri="{FF2B5EF4-FFF2-40B4-BE49-F238E27FC236}">
                  <a16:creationId xmlns:a16="http://schemas.microsoft.com/office/drawing/2014/main" id="{0901F1BD-9FD2-4247-90A1-7D9F2987ADD6}"/>
                </a:ext>
              </a:extLst>
            </p:cNvPr>
            <p:cNvSpPr txBox="1"/>
            <p:nvPr/>
          </p:nvSpPr>
          <p:spPr>
            <a:xfrm>
              <a:off x="1324754" y="6381960"/>
              <a:ext cx="11496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ym typeface="Wingdings" panose="05000000000000000000" pitchFamily="2" charset="2"/>
                </a:rPr>
                <a:t>Physical span</a:t>
              </a:r>
              <a:endParaRPr lang="en-US" sz="1400" dirty="0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3E9C164-C381-4E73-AC3F-2F1DF62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678365" y="1943921"/>
              <a:ext cx="115854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97">
              <a:extLst>
                <a:ext uri="{FF2B5EF4-FFF2-40B4-BE49-F238E27FC236}">
                  <a16:creationId xmlns:a16="http://schemas.microsoft.com/office/drawing/2014/main" id="{2AC1C318-8602-43B5-8761-7597DDD4471E}"/>
                </a:ext>
              </a:extLst>
            </p:cNvPr>
            <p:cNvSpPr txBox="1"/>
            <p:nvPr/>
          </p:nvSpPr>
          <p:spPr>
            <a:xfrm>
              <a:off x="486499" y="2052789"/>
              <a:ext cx="26544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Abstract Physical Topology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37530DC-6F7B-4180-A44B-AE9398C03651}"/>
                </a:ext>
              </a:extLst>
            </p:cNvPr>
            <p:cNvSpPr/>
            <p:nvPr/>
          </p:nvSpPr>
          <p:spPr>
            <a:xfrm>
              <a:off x="11337356" y="4668833"/>
              <a:ext cx="329184" cy="171312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A45FF68-EB33-4863-A472-B2C92A13E67E}"/>
                </a:ext>
              </a:extLst>
            </p:cNvPr>
            <p:cNvCxnSpPr/>
            <p:nvPr/>
          </p:nvCxnSpPr>
          <p:spPr>
            <a:xfrm>
              <a:off x="10133261" y="5976425"/>
              <a:ext cx="1204095" cy="0"/>
            </a:xfrm>
            <a:prstGeom prst="straightConnector1">
              <a:avLst/>
            </a:prstGeom>
            <a:ln>
              <a:solidFill>
                <a:srgbClr val="FFC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101">
              <a:extLst>
                <a:ext uri="{FF2B5EF4-FFF2-40B4-BE49-F238E27FC236}">
                  <a16:creationId xmlns:a16="http://schemas.microsoft.com/office/drawing/2014/main" id="{A90DF64B-26B7-4FD2-9E5B-0B62E8CA2D44}"/>
                </a:ext>
              </a:extLst>
            </p:cNvPr>
            <p:cNvSpPr txBox="1"/>
            <p:nvPr/>
          </p:nvSpPr>
          <p:spPr>
            <a:xfrm>
              <a:off x="10174320" y="5976425"/>
              <a:ext cx="11435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>
                  <a:solidFill>
                    <a:schemeClr val="bg1"/>
                  </a:solidFill>
                  <a:sym typeface="Wingdings" panose="05000000000000000000" pitchFamily="2" charset="2"/>
                </a:rPr>
                <a:t>BP connectivity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56CB46A-E0BC-4803-91B7-3FD1E113732C}"/>
                </a:ext>
              </a:extLst>
            </p:cNvPr>
            <p:cNvSpPr/>
            <p:nvPr/>
          </p:nvSpPr>
          <p:spPr>
            <a:xfrm>
              <a:off x="1392805" y="672967"/>
              <a:ext cx="1008255" cy="77723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solidFill>
                    <a:schemeClr val="tx1"/>
                  </a:solidFill>
                </a:rPr>
                <a:t>Node-A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7A155F3-C668-4314-9E30-27E92D78A2D4}"/>
                </a:ext>
              </a:extLst>
            </p:cNvPr>
            <p:cNvCxnSpPr>
              <a:cxnSpLocks/>
              <a:stCxn id="58" idx="6"/>
              <a:endCxn id="59" idx="2"/>
            </p:cNvCxnSpPr>
            <p:nvPr/>
          </p:nvCxnSpPr>
          <p:spPr>
            <a:xfrm>
              <a:off x="2489452" y="1066152"/>
              <a:ext cx="767612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108">
              <a:extLst>
                <a:ext uri="{FF2B5EF4-FFF2-40B4-BE49-F238E27FC236}">
                  <a16:creationId xmlns:a16="http://schemas.microsoft.com/office/drawing/2014/main" id="{6C4962A5-F60E-43BA-93D6-5EDE6B2B2E52}"/>
                </a:ext>
              </a:extLst>
            </p:cNvPr>
            <p:cNvSpPr txBox="1"/>
            <p:nvPr/>
          </p:nvSpPr>
          <p:spPr>
            <a:xfrm>
              <a:off x="8928430" y="719801"/>
              <a:ext cx="11929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/>
                <a:t>OTN/ETH Link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D6933AC9-A47E-4B12-97E4-52C219A19AB1}"/>
                </a:ext>
              </a:extLst>
            </p:cNvPr>
            <p:cNvSpPr/>
            <p:nvPr/>
          </p:nvSpPr>
          <p:spPr>
            <a:xfrm>
              <a:off x="10253973" y="672967"/>
              <a:ext cx="1008255" cy="77723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solidFill>
                    <a:schemeClr val="tx1"/>
                  </a:solidFill>
                </a:rPr>
                <a:t>Node-B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5982E4A-C4DC-4948-A6B4-699F8D22109D}"/>
                </a:ext>
              </a:extLst>
            </p:cNvPr>
            <p:cNvSpPr/>
            <p:nvPr/>
          </p:nvSpPr>
          <p:spPr>
            <a:xfrm>
              <a:off x="2312668" y="977760"/>
              <a:ext cx="176784" cy="176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7D638CD-CA29-46D4-BE20-A9B62F8249F7}"/>
                </a:ext>
              </a:extLst>
            </p:cNvPr>
            <p:cNvSpPr/>
            <p:nvPr/>
          </p:nvSpPr>
          <p:spPr>
            <a:xfrm>
              <a:off x="10165581" y="977760"/>
              <a:ext cx="176784" cy="1767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TextBox 112">
              <a:extLst>
                <a:ext uri="{FF2B5EF4-FFF2-40B4-BE49-F238E27FC236}">
                  <a16:creationId xmlns:a16="http://schemas.microsoft.com/office/drawing/2014/main" id="{38064FE1-30C2-470E-BDD2-90EE5EA9BFC2}"/>
                </a:ext>
              </a:extLst>
            </p:cNvPr>
            <p:cNvSpPr txBox="1"/>
            <p:nvPr/>
          </p:nvSpPr>
          <p:spPr>
            <a:xfrm>
              <a:off x="442897" y="168262"/>
              <a:ext cx="274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OTN/ETH Physical Topology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F5E46D4-1044-4D26-941A-4C45F5F122DA}"/>
                </a:ext>
              </a:extLst>
            </p:cNvPr>
            <p:cNvCxnSpPr>
              <a:cxnSpLocks/>
            </p:cNvCxnSpPr>
            <p:nvPr/>
          </p:nvCxnSpPr>
          <p:spPr>
            <a:xfrm>
              <a:off x="6214712" y="2790710"/>
              <a:ext cx="0" cy="1647618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116">
              <a:extLst>
                <a:ext uri="{FF2B5EF4-FFF2-40B4-BE49-F238E27FC236}">
                  <a16:creationId xmlns:a16="http://schemas.microsoft.com/office/drawing/2014/main" id="{B1CC54A6-9E1F-4406-93BC-F087E3392D51}"/>
                </a:ext>
              </a:extLst>
            </p:cNvPr>
            <p:cNvSpPr txBox="1"/>
            <p:nvPr/>
          </p:nvSpPr>
          <p:spPr>
            <a:xfrm>
              <a:off x="6245690" y="3157766"/>
              <a:ext cx="11689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Link -&gt; span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C854298B-76A4-4CD7-9EE9-55330A1B0DC6}"/>
                </a:ext>
              </a:extLst>
            </p:cNvPr>
            <p:cNvCxnSpPr>
              <a:cxnSpLocks/>
            </p:cNvCxnSpPr>
            <p:nvPr/>
          </p:nvCxnSpPr>
          <p:spPr>
            <a:xfrm>
              <a:off x="5282024" y="1061585"/>
              <a:ext cx="0" cy="1729125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120">
              <a:extLst>
                <a:ext uri="{FF2B5EF4-FFF2-40B4-BE49-F238E27FC236}">
                  <a16:creationId xmlns:a16="http://schemas.microsoft.com/office/drawing/2014/main" id="{3F852F90-08CB-4307-9684-E12BD88B2EE4}"/>
                </a:ext>
              </a:extLst>
            </p:cNvPr>
            <p:cNvSpPr txBox="1"/>
            <p:nvPr/>
          </p:nvSpPr>
          <p:spPr>
            <a:xfrm>
              <a:off x="5302179" y="1310763"/>
              <a:ext cx="13591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Underlay Path</a:t>
              </a:r>
            </a:p>
          </p:txBody>
        </p:sp>
      </p:grpSp>
      <p:sp>
        <p:nvSpPr>
          <p:cNvPr id="66" name="Footer Placeholder 3">
            <a:extLst>
              <a:ext uri="{FF2B5EF4-FFF2-40B4-BE49-F238E27FC236}">
                <a16:creationId xmlns:a16="http://schemas.microsoft.com/office/drawing/2014/main" id="{B3C45AE5-A98D-D50E-F894-F73DC05A6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  <p:sp>
        <p:nvSpPr>
          <p:cNvPr id="67" name="Date Placeholder 1">
            <a:extLst>
              <a:ext uri="{FF2B5EF4-FFF2-40B4-BE49-F238E27FC236}">
                <a16:creationId xmlns:a16="http://schemas.microsoft.com/office/drawing/2014/main" id="{DC7F90A9-0C41-5BB6-6F07-A909EB0F5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</p:spTree>
    <p:extLst>
      <p:ext uri="{BB962C8B-B14F-4D97-AF65-F5344CB8AC3E}">
        <p14:creationId xmlns:p14="http://schemas.microsoft.com/office/powerpoint/2010/main" val="3808017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1F1C1-808A-5C32-BA62-8881B895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D98C-53A3-D49C-EA67-2928CE39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Passive Device vs. Network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B625B-E258-1CB5-51C3-ADFB13CB3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888"/>
            <a:ext cx="11158728" cy="4787075"/>
          </a:xfrm>
        </p:spPr>
        <p:txBody>
          <a:bodyPr>
            <a:normAutofit/>
          </a:bodyPr>
          <a:lstStyle/>
          <a:p>
            <a:r>
              <a:rPr lang="en-US" dirty="0"/>
              <a:t>Comments about whether a passive device is considered as a new inventory object, or can be modeled as another type of network element</a:t>
            </a:r>
          </a:p>
          <a:p>
            <a:r>
              <a:rPr lang="en-US" dirty="0"/>
              <a:t>Depends on the definition of “network element”?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Physical Network Element</a:t>
            </a:r>
            <a:r>
              <a:rPr lang="en-US" dirty="0"/>
              <a:t>:  An implementation or application specific group of components (e.g., hardware components).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Network Element</a:t>
            </a:r>
            <a:r>
              <a:rPr lang="en-US" dirty="0"/>
              <a:t>:  The generalization of the physical network element definition. </a:t>
            </a:r>
          </a:p>
          <a:p>
            <a:r>
              <a:rPr lang="en-US" dirty="0"/>
              <a:t>Further discussion is needed to clarify 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97D87-CB3A-DB48-C311-5D1F6E6A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6CADBC4-10BC-FF14-83B6-E382432A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396970EA-2454-5838-7C1A-4839320F01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</p:spTree>
    <p:extLst>
      <p:ext uri="{BB962C8B-B14F-4D97-AF65-F5344CB8AC3E}">
        <p14:creationId xmlns:p14="http://schemas.microsoft.com/office/powerpoint/2010/main" val="3957927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9F31-D2B8-6169-01CF-8596AC25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E06CB-63C1-42E3-0BC4-720C7C8D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A822D-6EAE-AC85-3B4D-8C105DFA5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would be helpful to develop some examples to describe the passive infrastructure and include them in the draft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0F94D-9DC0-F774-0ED5-2883F10A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9DDFB-4356-E349-139E-90F8B3903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34D1628-C01D-8AF6-1812-30FEC00493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</p:spTree>
    <p:extLst>
      <p:ext uri="{BB962C8B-B14F-4D97-AF65-F5344CB8AC3E}">
        <p14:creationId xmlns:p14="http://schemas.microsoft.com/office/powerpoint/2010/main" val="3208038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AD2B9-DB60-B1BB-DA51-6787FB7EE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A70F-F0CA-C488-FECF-1E1CFC8AB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4964A-375D-B825-CC0F-19A98F6D9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Develop a rev-01 to address </a:t>
            </a:r>
          </a:p>
          <a:p>
            <a:pPr lvl="1"/>
            <a:r>
              <a:rPr lang="en-US" dirty="0"/>
              <a:t>Modeling methodology re. topology vs. inventory</a:t>
            </a:r>
          </a:p>
          <a:p>
            <a:pPr lvl="1"/>
            <a:r>
              <a:rPr lang="en-US" dirty="0"/>
              <a:t>Clarification of terminologies</a:t>
            </a:r>
          </a:p>
          <a:p>
            <a:pPr lvl="1"/>
            <a:r>
              <a:rPr lang="en-US" dirty="0"/>
              <a:t>Adding examples of passive infrastructure</a:t>
            </a:r>
          </a:p>
          <a:p>
            <a:r>
              <a:rPr lang="en-US" dirty="0"/>
              <a:t>Request for WG adoption after rev-01</a:t>
            </a:r>
          </a:p>
          <a:p>
            <a:r>
              <a:rPr lang="en-US" dirty="0"/>
              <a:t>Solicit reviews and comments from the WG</a:t>
            </a:r>
          </a:p>
          <a:p>
            <a:r>
              <a:rPr lang="en-US" dirty="0"/>
              <a:t>Welcome more contributors to join this work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GitHub: </a:t>
            </a:r>
            <a:r>
              <a:rPr lang="en-US" dirty="0">
                <a:hlinkClick r:id="rId2"/>
              </a:rPr>
              <a:t>https://github.com/aguoietf/draft-ygb-ivy-passive-network-inventory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46635-DBD1-F213-0EE6-02D87184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3C573-766A-454A-EB14-844257F3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F8A06C0-6FDF-763B-D349-7F65FC991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/19/2025</a:t>
            </a:r>
          </a:p>
        </p:txBody>
      </p:sp>
    </p:spTree>
    <p:extLst>
      <p:ext uri="{BB962C8B-B14F-4D97-AF65-F5344CB8AC3E}">
        <p14:creationId xmlns:p14="http://schemas.microsoft.com/office/powerpoint/2010/main" val="2076057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4"/>
          <p:cNvSpPr txBox="1"/>
          <p:nvPr/>
        </p:nvSpPr>
        <p:spPr>
          <a:xfrm>
            <a:off x="1969191" y="200255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+mj-cs"/>
              </a:rPr>
              <a:t>Thank You!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+mj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E7465-0396-19F6-66E3-E01A722A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3EADEDF-B581-1DC3-FB62-F6F82ECA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</p:spTree>
    <p:extLst>
      <p:ext uri="{BB962C8B-B14F-4D97-AF65-F5344CB8AC3E}">
        <p14:creationId xmlns:p14="http://schemas.microsoft.com/office/powerpoint/2010/main" val="2077684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534F7-02A7-171D-7B98-04CA5F7F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4">
            <a:extLst>
              <a:ext uri="{FF2B5EF4-FFF2-40B4-BE49-F238E27FC236}">
                <a16:creationId xmlns:a16="http://schemas.microsoft.com/office/drawing/2014/main" id="{E5E24C0A-1F29-1829-3CBB-CDA2E8456242}"/>
              </a:ext>
            </a:extLst>
          </p:cNvPr>
          <p:cNvSpPr txBox="1"/>
          <p:nvPr/>
        </p:nvSpPr>
        <p:spPr>
          <a:xfrm>
            <a:off x="1969191" y="200255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+mj-cs"/>
              </a:rPr>
              <a:t>Backup Slides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+mj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80217-8524-3292-37A5-BB6904CB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F998E4D-49F7-FC75-E4F8-A55C6821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122, Bangkok</a:t>
            </a:r>
          </a:p>
        </p:txBody>
      </p:sp>
    </p:spTree>
    <p:extLst>
      <p:ext uri="{BB962C8B-B14F-4D97-AF65-F5344CB8AC3E}">
        <p14:creationId xmlns:p14="http://schemas.microsoft.com/office/powerpoint/2010/main" val="857640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89DFF-9FCB-5B51-57F5-F2710821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F02C-ADAD-6BA8-93F3-36BCEB4FA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Cable &amp; Cable Segments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28A61-114C-9403-2E9C-B94B719B6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E8D9F-EE5F-4C6A-B9D9-EDFB82C38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0B9C400-7748-F111-1207-E21EFD35E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060" y="1896631"/>
            <a:ext cx="5558204" cy="367907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Optical cable: consists of one or multiple optical cable segments connected by optical cable connectors.  </a:t>
            </a:r>
          </a:p>
          <a:p>
            <a:pPr lvl="1"/>
            <a:r>
              <a:rPr lang="en-US" dirty="0"/>
              <a:t>The equipment at both ends of the cable can be a passive device or an active/managed NE device.</a:t>
            </a:r>
          </a:p>
          <a:p>
            <a:pPr lvl="1"/>
            <a:r>
              <a:rPr lang="en-US" dirty="0"/>
              <a:t>A fiber is a cable with only one fiber core</a:t>
            </a:r>
          </a:p>
          <a:p>
            <a:r>
              <a:rPr lang="en-US" dirty="0"/>
              <a:t> An optical cable segment refers to a section of optical cable where the number of fiber cores between two optical junctions remains unchanged. </a:t>
            </a:r>
          </a:p>
          <a:p>
            <a:pPr lvl="1"/>
            <a:r>
              <a:rPr lang="en-US" dirty="0"/>
              <a:t>Spliced or fused through a joint box or connected through ODF or fiber jumpers.  </a:t>
            </a:r>
          </a:p>
          <a:p>
            <a:pPr lvl="1"/>
            <a:r>
              <a:rPr lang="en-US" dirty="0"/>
              <a:t>Contains one or multiple fiber cores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流程图: 直接访问存储器 4">
            <a:extLst>
              <a:ext uri="{FF2B5EF4-FFF2-40B4-BE49-F238E27FC236}">
                <a16:creationId xmlns:a16="http://schemas.microsoft.com/office/drawing/2014/main" id="{333CEA0A-256E-F678-D79D-2CC3D577F8DE}"/>
              </a:ext>
            </a:extLst>
          </p:cNvPr>
          <p:cNvSpPr/>
          <p:nvPr/>
        </p:nvSpPr>
        <p:spPr>
          <a:xfrm>
            <a:off x="8645621" y="2366712"/>
            <a:ext cx="1332803" cy="218403"/>
          </a:xfrm>
          <a:prstGeom prst="flowChartMagneticDrum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00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流程图: 直接访问存储器 5">
            <a:extLst>
              <a:ext uri="{FF2B5EF4-FFF2-40B4-BE49-F238E27FC236}">
                <a16:creationId xmlns:a16="http://schemas.microsoft.com/office/drawing/2014/main" id="{6FD4CCFF-B30B-A3D9-3584-9F588453B121}"/>
              </a:ext>
            </a:extLst>
          </p:cNvPr>
          <p:cNvSpPr/>
          <p:nvPr/>
        </p:nvSpPr>
        <p:spPr>
          <a:xfrm>
            <a:off x="7609228" y="2394957"/>
            <a:ext cx="1332803" cy="218403"/>
          </a:xfrm>
          <a:prstGeom prst="flowChartMagneticDrum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00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8" name="流程图: 直接访问存储器 6">
            <a:extLst>
              <a:ext uri="{FF2B5EF4-FFF2-40B4-BE49-F238E27FC236}">
                <a16:creationId xmlns:a16="http://schemas.microsoft.com/office/drawing/2014/main" id="{7753DA44-6035-2B7A-7A32-5B9ACD57CFDF}"/>
              </a:ext>
            </a:extLst>
          </p:cNvPr>
          <p:cNvSpPr/>
          <p:nvPr/>
        </p:nvSpPr>
        <p:spPr>
          <a:xfrm>
            <a:off x="9689538" y="2387723"/>
            <a:ext cx="1332803" cy="218403"/>
          </a:xfrm>
          <a:prstGeom prst="flowChartMagneticDrum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00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0" name="流程图: 直接访问存储器 7">
            <a:extLst>
              <a:ext uri="{FF2B5EF4-FFF2-40B4-BE49-F238E27FC236}">
                <a16:creationId xmlns:a16="http://schemas.microsoft.com/office/drawing/2014/main" id="{BB393D83-897A-CD2F-4088-7E699C641EA3}"/>
              </a:ext>
            </a:extLst>
          </p:cNvPr>
          <p:cNvSpPr/>
          <p:nvPr/>
        </p:nvSpPr>
        <p:spPr>
          <a:xfrm>
            <a:off x="8525427" y="2277150"/>
            <a:ext cx="361451" cy="408404"/>
          </a:xfrm>
          <a:prstGeom prst="flowChartMagneticDrum">
            <a:avLst/>
          </a:prstGeom>
          <a:solidFill>
            <a:srgbClr val="00B0F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00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1" name="流程图: 直接访问存储器 8">
            <a:extLst>
              <a:ext uri="{FF2B5EF4-FFF2-40B4-BE49-F238E27FC236}">
                <a16:creationId xmlns:a16="http://schemas.microsoft.com/office/drawing/2014/main" id="{1528CFBA-4657-CCCC-D67A-A0E0F8E8424C}"/>
              </a:ext>
            </a:extLst>
          </p:cNvPr>
          <p:cNvSpPr/>
          <p:nvPr/>
        </p:nvSpPr>
        <p:spPr>
          <a:xfrm>
            <a:off x="9593987" y="2277150"/>
            <a:ext cx="361451" cy="408404"/>
          </a:xfrm>
          <a:prstGeom prst="flowChartMagneticDrum">
            <a:avLst/>
          </a:prstGeom>
          <a:solidFill>
            <a:srgbClr val="00B05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00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cxnSp>
        <p:nvCxnSpPr>
          <p:cNvPr id="22" name="直接连接符 9">
            <a:extLst>
              <a:ext uri="{FF2B5EF4-FFF2-40B4-BE49-F238E27FC236}">
                <a16:creationId xmlns:a16="http://schemas.microsoft.com/office/drawing/2014/main" id="{E5F385BD-D876-28B5-0B71-D9207FD2BAD2}"/>
              </a:ext>
            </a:extLst>
          </p:cNvPr>
          <p:cNvCxnSpPr/>
          <p:nvPr/>
        </p:nvCxnSpPr>
        <p:spPr>
          <a:xfrm>
            <a:off x="7503544" y="1915133"/>
            <a:ext cx="8386" cy="4697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10">
            <a:extLst>
              <a:ext uri="{FF2B5EF4-FFF2-40B4-BE49-F238E27FC236}">
                <a16:creationId xmlns:a16="http://schemas.microsoft.com/office/drawing/2014/main" id="{D1CA1554-56E3-C187-D284-BD7C4B2DF658}"/>
              </a:ext>
            </a:extLst>
          </p:cNvPr>
          <p:cNvCxnSpPr/>
          <p:nvPr/>
        </p:nvCxnSpPr>
        <p:spPr>
          <a:xfrm>
            <a:off x="11022341" y="1757192"/>
            <a:ext cx="8386" cy="5475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11">
            <a:extLst>
              <a:ext uri="{FF2B5EF4-FFF2-40B4-BE49-F238E27FC236}">
                <a16:creationId xmlns:a16="http://schemas.microsoft.com/office/drawing/2014/main" id="{1515497E-122A-A2E0-6979-9E52F9902DB7}"/>
              </a:ext>
            </a:extLst>
          </p:cNvPr>
          <p:cNvCxnSpPr/>
          <p:nvPr/>
        </p:nvCxnSpPr>
        <p:spPr>
          <a:xfrm flipV="1">
            <a:off x="7591807" y="1894252"/>
            <a:ext cx="3430534" cy="309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12">
            <a:extLst>
              <a:ext uri="{FF2B5EF4-FFF2-40B4-BE49-F238E27FC236}">
                <a16:creationId xmlns:a16="http://schemas.microsoft.com/office/drawing/2014/main" id="{4DDB2B02-5D58-A055-647D-3E5EEF47888C}"/>
              </a:ext>
            </a:extLst>
          </p:cNvPr>
          <p:cNvSpPr txBox="1"/>
          <p:nvPr/>
        </p:nvSpPr>
        <p:spPr>
          <a:xfrm>
            <a:off x="9115300" y="1706894"/>
            <a:ext cx="636957" cy="2461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914112"/>
            <a:r>
              <a:rPr lang="en-US" altLang="zh-CN" sz="10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Cable</a:t>
            </a:r>
            <a:endParaRPr lang="zh-CN" altLang="en-US" sz="10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6" name="直接箭头连接符 13">
            <a:extLst>
              <a:ext uri="{FF2B5EF4-FFF2-40B4-BE49-F238E27FC236}">
                <a16:creationId xmlns:a16="http://schemas.microsoft.com/office/drawing/2014/main" id="{439DEBE8-31CF-3672-73C6-00CEE6B2DCEB}"/>
              </a:ext>
            </a:extLst>
          </p:cNvPr>
          <p:cNvCxnSpPr/>
          <p:nvPr/>
        </p:nvCxnSpPr>
        <p:spPr>
          <a:xfrm>
            <a:off x="7566335" y="2160098"/>
            <a:ext cx="9927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14">
            <a:extLst>
              <a:ext uri="{FF2B5EF4-FFF2-40B4-BE49-F238E27FC236}">
                <a16:creationId xmlns:a16="http://schemas.microsoft.com/office/drawing/2014/main" id="{82218468-6C53-1908-0E80-477AF8ED2CE0}"/>
              </a:ext>
            </a:extLst>
          </p:cNvPr>
          <p:cNvCxnSpPr/>
          <p:nvPr/>
        </p:nvCxnSpPr>
        <p:spPr>
          <a:xfrm>
            <a:off x="8570198" y="1993001"/>
            <a:ext cx="0" cy="33525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15">
            <a:extLst>
              <a:ext uri="{FF2B5EF4-FFF2-40B4-BE49-F238E27FC236}">
                <a16:creationId xmlns:a16="http://schemas.microsoft.com/office/drawing/2014/main" id="{8C3D3C91-E2B9-979E-0046-0B03C3166BFD}"/>
              </a:ext>
            </a:extLst>
          </p:cNvPr>
          <p:cNvCxnSpPr/>
          <p:nvPr/>
        </p:nvCxnSpPr>
        <p:spPr>
          <a:xfrm>
            <a:off x="8605013" y="2163276"/>
            <a:ext cx="9927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16">
            <a:extLst>
              <a:ext uri="{FF2B5EF4-FFF2-40B4-BE49-F238E27FC236}">
                <a16:creationId xmlns:a16="http://schemas.microsoft.com/office/drawing/2014/main" id="{26F8762D-81DA-D72E-509A-E6DE6D6B2239}"/>
              </a:ext>
            </a:extLst>
          </p:cNvPr>
          <p:cNvCxnSpPr/>
          <p:nvPr/>
        </p:nvCxnSpPr>
        <p:spPr>
          <a:xfrm>
            <a:off x="9608876" y="1996179"/>
            <a:ext cx="0" cy="33525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17">
            <a:extLst>
              <a:ext uri="{FF2B5EF4-FFF2-40B4-BE49-F238E27FC236}">
                <a16:creationId xmlns:a16="http://schemas.microsoft.com/office/drawing/2014/main" id="{7B83CE26-A919-951D-23C7-506F635B982A}"/>
              </a:ext>
            </a:extLst>
          </p:cNvPr>
          <p:cNvCxnSpPr/>
          <p:nvPr/>
        </p:nvCxnSpPr>
        <p:spPr>
          <a:xfrm flipV="1">
            <a:off x="9689538" y="2160099"/>
            <a:ext cx="1332803" cy="95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18">
            <a:extLst>
              <a:ext uri="{FF2B5EF4-FFF2-40B4-BE49-F238E27FC236}">
                <a16:creationId xmlns:a16="http://schemas.microsoft.com/office/drawing/2014/main" id="{7C678866-AE49-6663-2E59-072F590B3900}"/>
              </a:ext>
            </a:extLst>
          </p:cNvPr>
          <p:cNvSpPr txBox="1"/>
          <p:nvPr/>
        </p:nvSpPr>
        <p:spPr>
          <a:xfrm>
            <a:off x="7615470" y="1960710"/>
            <a:ext cx="996985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914112"/>
            <a:r>
              <a:rPr lang="en-US" altLang="zh-CN" sz="10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Cable Segment 1</a:t>
            </a:r>
            <a:endParaRPr lang="zh-CN" altLang="en-US" sz="10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4" name="直接连接符 21">
            <a:extLst>
              <a:ext uri="{FF2B5EF4-FFF2-40B4-BE49-F238E27FC236}">
                <a16:creationId xmlns:a16="http://schemas.microsoft.com/office/drawing/2014/main" id="{6E07DEA2-09CC-E191-1B50-5E3744DF9A67}"/>
              </a:ext>
            </a:extLst>
          </p:cNvPr>
          <p:cNvCxnSpPr/>
          <p:nvPr/>
        </p:nvCxnSpPr>
        <p:spPr>
          <a:xfrm>
            <a:off x="7875496" y="2443252"/>
            <a:ext cx="285032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直接连接符 22">
            <a:extLst>
              <a:ext uri="{FF2B5EF4-FFF2-40B4-BE49-F238E27FC236}">
                <a16:creationId xmlns:a16="http://schemas.microsoft.com/office/drawing/2014/main" id="{E6C7CB2B-1280-493F-5C34-C38D0073BB43}"/>
              </a:ext>
            </a:extLst>
          </p:cNvPr>
          <p:cNvCxnSpPr/>
          <p:nvPr/>
        </p:nvCxnSpPr>
        <p:spPr>
          <a:xfrm>
            <a:off x="7908661" y="2443252"/>
            <a:ext cx="285032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直接连接符 23">
            <a:extLst>
              <a:ext uri="{FF2B5EF4-FFF2-40B4-BE49-F238E27FC236}">
                <a16:creationId xmlns:a16="http://schemas.microsoft.com/office/drawing/2014/main" id="{BE3CC6D7-D54B-B686-B7D3-E05D085B2321}"/>
              </a:ext>
            </a:extLst>
          </p:cNvPr>
          <p:cNvCxnSpPr/>
          <p:nvPr/>
        </p:nvCxnSpPr>
        <p:spPr>
          <a:xfrm>
            <a:off x="7882852" y="2493505"/>
            <a:ext cx="285032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直接连接符 24">
            <a:extLst>
              <a:ext uri="{FF2B5EF4-FFF2-40B4-BE49-F238E27FC236}">
                <a16:creationId xmlns:a16="http://schemas.microsoft.com/office/drawing/2014/main" id="{1C7865CF-134A-DD5A-5747-6CA0D37F3842}"/>
              </a:ext>
            </a:extLst>
          </p:cNvPr>
          <p:cNvCxnSpPr/>
          <p:nvPr/>
        </p:nvCxnSpPr>
        <p:spPr>
          <a:xfrm>
            <a:off x="7882852" y="2561845"/>
            <a:ext cx="285032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圆角矩形 2">
            <a:extLst>
              <a:ext uri="{FF2B5EF4-FFF2-40B4-BE49-F238E27FC236}">
                <a16:creationId xmlns:a16="http://schemas.microsoft.com/office/drawing/2014/main" id="{4DC8DD89-438F-2BB0-DFCD-95553B3CED36}"/>
              </a:ext>
            </a:extLst>
          </p:cNvPr>
          <p:cNvSpPr/>
          <p:nvPr/>
        </p:nvSpPr>
        <p:spPr>
          <a:xfrm>
            <a:off x="6671127" y="1860414"/>
            <a:ext cx="821991" cy="1106111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9" name="圆角矩形 27">
            <a:extLst>
              <a:ext uri="{FF2B5EF4-FFF2-40B4-BE49-F238E27FC236}">
                <a16:creationId xmlns:a16="http://schemas.microsoft.com/office/drawing/2014/main" id="{A511F624-732F-5DDB-7B0C-34E3EAEB0AA4}"/>
              </a:ext>
            </a:extLst>
          </p:cNvPr>
          <p:cNvSpPr/>
          <p:nvPr/>
        </p:nvSpPr>
        <p:spPr>
          <a:xfrm>
            <a:off x="11051967" y="1782508"/>
            <a:ext cx="821991" cy="1106111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41" name="圆角矩形 112">
            <a:extLst>
              <a:ext uri="{FF2B5EF4-FFF2-40B4-BE49-F238E27FC236}">
                <a16:creationId xmlns:a16="http://schemas.microsoft.com/office/drawing/2014/main" id="{49EBF1E0-2856-BD02-F10D-2CA9847440AD}"/>
              </a:ext>
            </a:extLst>
          </p:cNvPr>
          <p:cNvSpPr/>
          <p:nvPr/>
        </p:nvSpPr>
        <p:spPr>
          <a:xfrm>
            <a:off x="7370800" y="2185551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2" name="圆角矩形 113">
            <a:extLst>
              <a:ext uri="{FF2B5EF4-FFF2-40B4-BE49-F238E27FC236}">
                <a16:creationId xmlns:a16="http://schemas.microsoft.com/office/drawing/2014/main" id="{AD0DC3DF-B86B-3480-5AC9-81EA51690491}"/>
              </a:ext>
            </a:extLst>
          </p:cNvPr>
          <p:cNvSpPr/>
          <p:nvPr/>
        </p:nvSpPr>
        <p:spPr>
          <a:xfrm>
            <a:off x="7370800" y="2344963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圆角矩形 114">
            <a:extLst>
              <a:ext uri="{FF2B5EF4-FFF2-40B4-BE49-F238E27FC236}">
                <a16:creationId xmlns:a16="http://schemas.microsoft.com/office/drawing/2014/main" id="{40F7E44E-B88D-5039-9D99-4D55796F91F4}"/>
              </a:ext>
            </a:extLst>
          </p:cNvPr>
          <p:cNvSpPr/>
          <p:nvPr/>
        </p:nvSpPr>
        <p:spPr>
          <a:xfrm>
            <a:off x="7370800" y="2044324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4" name="圆角矩形 115">
            <a:extLst>
              <a:ext uri="{FF2B5EF4-FFF2-40B4-BE49-F238E27FC236}">
                <a16:creationId xmlns:a16="http://schemas.microsoft.com/office/drawing/2014/main" id="{8D92C638-BB34-223B-17EB-5C5C478249B3}"/>
              </a:ext>
            </a:extLst>
          </p:cNvPr>
          <p:cNvSpPr/>
          <p:nvPr/>
        </p:nvSpPr>
        <p:spPr>
          <a:xfrm>
            <a:off x="7370800" y="2497303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5" name="圆角矩形 116">
            <a:extLst>
              <a:ext uri="{FF2B5EF4-FFF2-40B4-BE49-F238E27FC236}">
                <a16:creationId xmlns:a16="http://schemas.microsoft.com/office/drawing/2014/main" id="{A1EA62A9-A112-CBCB-71E2-0982CA8576ED}"/>
              </a:ext>
            </a:extLst>
          </p:cNvPr>
          <p:cNvSpPr/>
          <p:nvPr/>
        </p:nvSpPr>
        <p:spPr>
          <a:xfrm>
            <a:off x="7370800" y="2649644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6" name="圆角矩形 117">
            <a:extLst>
              <a:ext uri="{FF2B5EF4-FFF2-40B4-BE49-F238E27FC236}">
                <a16:creationId xmlns:a16="http://schemas.microsoft.com/office/drawing/2014/main" id="{61D63DDE-30B8-7AF4-5A10-6EA72061923C}"/>
              </a:ext>
            </a:extLst>
          </p:cNvPr>
          <p:cNvSpPr/>
          <p:nvPr/>
        </p:nvSpPr>
        <p:spPr>
          <a:xfrm>
            <a:off x="7370800" y="2801984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圆角矩形 127">
            <a:extLst>
              <a:ext uri="{FF2B5EF4-FFF2-40B4-BE49-F238E27FC236}">
                <a16:creationId xmlns:a16="http://schemas.microsoft.com/office/drawing/2014/main" id="{DE36D535-34E8-5784-AB75-937E5AC37FE0}"/>
              </a:ext>
            </a:extLst>
          </p:cNvPr>
          <p:cNvSpPr/>
          <p:nvPr/>
        </p:nvSpPr>
        <p:spPr>
          <a:xfrm>
            <a:off x="11074737" y="2075795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圆角矩形 128">
            <a:extLst>
              <a:ext uri="{FF2B5EF4-FFF2-40B4-BE49-F238E27FC236}">
                <a16:creationId xmlns:a16="http://schemas.microsoft.com/office/drawing/2014/main" id="{3C17EF50-EADF-73CB-4254-F3958C6BF4BB}"/>
              </a:ext>
            </a:extLst>
          </p:cNvPr>
          <p:cNvSpPr/>
          <p:nvPr/>
        </p:nvSpPr>
        <p:spPr>
          <a:xfrm>
            <a:off x="11074737" y="2235207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圆角矩形 129">
            <a:extLst>
              <a:ext uri="{FF2B5EF4-FFF2-40B4-BE49-F238E27FC236}">
                <a16:creationId xmlns:a16="http://schemas.microsoft.com/office/drawing/2014/main" id="{E33171E5-FE26-C3FE-3C68-BA89C455C4BD}"/>
              </a:ext>
            </a:extLst>
          </p:cNvPr>
          <p:cNvSpPr/>
          <p:nvPr/>
        </p:nvSpPr>
        <p:spPr>
          <a:xfrm>
            <a:off x="11074737" y="1934569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0" name="圆角矩形 130">
            <a:extLst>
              <a:ext uri="{FF2B5EF4-FFF2-40B4-BE49-F238E27FC236}">
                <a16:creationId xmlns:a16="http://schemas.microsoft.com/office/drawing/2014/main" id="{FC4EA3AA-48EF-1FF9-638E-0CFA31EE5018}"/>
              </a:ext>
            </a:extLst>
          </p:cNvPr>
          <p:cNvSpPr/>
          <p:nvPr/>
        </p:nvSpPr>
        <p:spPr>
          <a:xfrm>
            <a:off x="11074737" y="2387548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圆角矩形 131">
            <a:extLst>
              <a:ext uri="{FF2B5EF4-FFF2-40B4-BE49-F238E27FC236}">
                <a16:creationId xmlns:a16="http://schemas.microsoft.com/office/drawing/2014/main" id="{FBA538E0-E975-025C-7DAD-F8D4321BC3C7}"/>
              </a:ext>
            </a:extLst>
          </p:cNvPr>
          <p:cNvSpPr/>
          <p:nvPr/>
        </p:nvSpPr>
        <p:spPr>
          <a:xfrm>
            <a:off x="11074737" y="2539888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圆角矩形 132">
            <a:extLst>
              <a:ext uri="{FF2B5EF4-FFF2-40B4-BE49-F238E27FC236}">
                <a16:creationId xmlns:a16="http://schemas.microsoft.com/office/drawing/2014/main" id="{9D34240E-4D37-48B4-A573-C161ACD40B9B}"/>
              </a:ext>
            </a:extLst>
          </p:cNvPr>
          <p:cNvSpPr/>
          <p:nvPr/>
        </p:nvSpPr>
        <p:spPr>
          <a:xfrm>
            <a:off x="11074737" y="2692229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3" name="圆角矩形 133">
            <a:extLst>
              <a:ext uri="{FF2B5EF4-FFF2-40B4-BE49-F238E27FC236}">
                <a16:creationId xmlns:a16="http://schemas.microsoft.com/office/drawing/2014/main" id="{A3B52F13-D5F1-0E06-4953-7CAB1753324F}"/>
              </a:ext>
            </a:extLst>
          </p:cNvPr>
          <p:cNvSpPr/>
          <p:nvPr/>
        </p:nvSpPr>
        <p:spPr>
          <a:xfrm>
            <a:off x="11751309" y="2046041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4" name="圆角矩形 134">
            <a:extLst>
              <a:ext uri="{FF2B5EF4-FFF2-40B4-BE49-F238E27FC236}">
                <a16:creationId xmlns:a16="http://schemas.microsoft.com/office/drawing/2014/main" id="{8D580E3B-4E99-0271-AB75-4CA50110E02B}"/>
              </a:ext>
            </a:extLst>
          </p:cNvPr>
          <p:cNvSpPr/>
          <p:nvPr/>
        </p:nvSpPr>
        <p:spPr>
          <a:xfrm>
            <a:off x="11751309" y="2205453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5" name="圆角矩形 135">
            <a:extLst>
              <a:ext uri="{FF2B5EF4-FFF2-40B4-BE49-F238E27FC236}">
                <a16:creationId xmlns:a16="http://schemas.microsoft.com/office/drawing/2014/main" id="{B1C9A4E0-B34A-C494-7B73-CCDD1D5901FB}"/>
              </a:ext>
            </a:extLst>
          </p:cNvPr>
          <p:cNvSpPr/>
          <p:nvPr/>
        </p:nvSpPr>
        <p:spPr>
          <a:xfrm>
            <a:off x="11751309" y="1904814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6" name="圆角矩形 136">
            <a:extLst>
              <a:ext uri="{FF2B5EF4-FFF2-40B4-BE49-F238E27FC236}">
                <a16:creationId xmlns:a16="http://schemas.microsoft.com/office/drawing/2014/main" id="{6EA4D1F5-76C2-3824-16B6-0DCA1D028313}"/>
              </a:ext>
            </a:extLst>
          </p:cNvPr>
          <p:cNvSpPr/>
          <p:nvPr/>
        </p:nvSpPr>
        <p:spPr>
          <a:xfrm>
            <a:off x="11751309" y="2357793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5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7" name="椭圆 168">
            <a:extLst>
              <a:ext uri="{FF2B5EF4-FFF2-40B4-BE49-F238E27FC236}">
                <a16:creationId xmlns:a16="http://schemas.microsoft.com/office/drawing/2014/main" id="{9AD018A7-34D4-71F0-C091-25588C48B801}"/>
              </a:ext>
            </a:extLst>
          </p:cNvPr>
          <p:cNvSpPr/>
          <p:nvPr/>
        </p:nvSpPr>
        <p:spPr>
          <a:xfrm>
            <a:off x="7219420" y="1915133"/>
            <a:ext cx="720233" cy="986451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62" name="文本框 3">
            <a:extLst>
              <a:ext uri="{FF2B5EF4-FFF2-40B4-BE49-F238E27FC236}">
                <a16:creationId xmlns:a16="http://schemas.microsoft.com/office/drawing/2014/main" id="{8ECFB482-CB10-0D3F-0F66-DBD279EE55BF}"/>
              </a:ext>
            </a:extLst>
          </p:cNvPr>
          <p:cNvSpPr txBox="1"/>
          <p:nvPr/>
        </p:nvSpPr>
        <p:spPr>
          <a:xfrm>
            <a:off x="6657102" y="1894252"/>
            <a:ext cx="722905" cy="5770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914112"/>
            <a:r>
              <a:rPr lang="en-US" altLang="zh-CN" sz="105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 or</a:t>
            </a:r>
          </a:p>
          <a:p>
            <a:pPr defTabSz="914112"/>
            <a:r>
              <a:rPr lang="en-US" altLang="zh-CN" sz="105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Passive Device</a:t>
            </a:r>
            <a:endParaRPr lang="zh-CN" altLang="en-US" sz="105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文本框 18">
            <a:extLst>
              <a:ext uri="{FF2B5EF4-FFF2-40B4-BE49-F238E27FC236}">
                <a16:creationId xmlns:a16="http://schemas.microsoft.com/office/drawing/2014/main" id="{DE6C02C4-180B-A070-1384-A0417A75471F}"/>
              </a:ext>
            </a:extLst>
          </p:cNvPr>
          <p:cNvSpPr txBox="1"/>
          <p:nvPr/>
        </p:nvSpPr>
        <p:spPr>
          <a:xfrm>
            <a:off x="8755466" y="1929329"/>
            <a:ext cx="996985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914112"/>
            <a:r>
              <a:rPr lang="en-US" altLang="zh-CN" sz="10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Cable Segment 2</a:t>
            </a:r>
            <a:endParaRPr lang="zh-CN" altLang="en-US" sz="10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文本框 18">
            <a:extLst>
              <a:ext uri="{FF2B5EF4-FFF2-40B4-BE49-F238E27FC236}">
                <a16:creationId xmlns:a16="http://schemas.microsoft.com/office/drawing/2014/main" id="{E4F9A135-ADBE-276E-50A9-37BB5E3F716B}"/>
              </a:ext>
            </a:extLst>
          </p:cNvPr>
          <p:cNvSpPr txBox="1"/>
          <p:nvPr/>
        </p:nvSpPr>
        <p:spPr>
          <a:xfrm>
            <a:off x="9950840" y="1947966"/>
            <a:ext cx="996985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914112"/>
            <a:r>
              <a:rPr lang="en-US" altLang="zh-CN" sz="10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Cable Segment 3</a:t>
            </a:r>
            <a:endParaRPr lang="zh-CN" altLang="en-US" sz="10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5" name="直接箭头连接符 207">
            <a:extLst>
              <a:ext uri="{FF2B5EF4-FFF2-40B4-BE49-F238E27FC236}">
                <a16:creationId xmlns:a16="http://schemas.microsoft.com/office/drawing/2014/main" id="{F99D6A6B-F0CE-E2E5-1AAE-163C1C958B89}"/>
              </a:ext>
            </a:extLst>
          </p:cNvPr>
          <p:cNvCxnSpPr>
            <a:cxnSpLocks/>
            <a:stCxn id="20" idx="2"/>
            <a:endCxn id="126" idx="0"/>
          </p:cNvCxnSpPr>
          <p:nvPr/>
        </p:nvCxnSpPr>
        <p:spPr>
          <a:xfrm>
            <a:off x="8706153" y="2685554"/>
            <a:ext cx="228009" cy="298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圆角矩形 208">
            <a:extLst>
              <a:ext uri="{FF2B5EF4-FFF2-40B4-BE49-F238E27FC236}">
                <a16:creationId xmlns:a16="http://schemas.microsoft.com/office/drawing/2014/main" id="{866945E3-A2B5-ED85-2424-B65F76BC8884}"/>
              </a:ext>
            </a:extLst>
          </p:cNvPr>
          <p:cNvSpPr/>
          <p:nvPr/>
        </p:nvSpPr>
        <p:spPr>
          <a:xfrm>
            <a:off x="8872616" y="3305422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80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7" name="圆角矩形 209">
            <a:extLst>
              <a:ext uri="{FF2B5EF4-FFF2-40B4-BE49-F238E27FC236}">
                <a16:creationId xmlns:a16="http://schemas.microsoft.com/office/drawing/2014/main" id="{C699E513-D6CB-9730-EEE5-37AE656BEF76}"/>
              </a:ext>
            </a:extLst>
          </p:cNvPr>
          <p:cNvSpPr/>
          <p:nvPr/>
        </p:nvSpPr>
        <p:spPr>
          <a:xfrm>
            <a:off x="8872616" y="3464834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80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8" name="圆角矩形 210">
            <a:extLst>
              <a:ext uri="{FF2B5EF4-FFF2-40B4-BE49-F238E27FC236}">
                <a16:creationId xmlns:a16="http://schemas.microsoft.com/office/drawing/2014/main" id="{3CD0455C-06AE-9D03-6247-77574F348B7B}"/>
              </a:ext>
            </a:extLst>
          </p:cNvPr>
          <p:cNvSpPr/>
          <p:nvPr/>
        </p:nvSpPr>
        <p:spPr>
          <a:xfrm>
            <a:off x="8872616" y="3164195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80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9" name="圆角矩形 211">
            <a:extLst>
              <a:ext uri="{FF2B5EF4-FFF2-40B4-BE49-F238E27FC236}">
                <a16:creationId xmlns:a16="http://schemas.microsoft.com/office/drawing/2014/main" id="{DECB97B7-5A88-994D-882C-B6AB2EA2A0D5}"/>
              </a:ext>
            </a:extLst>
          </p:cNvPr>
          <p:cNvSpPr/>
          <p:nvPr/>
        </p:nvSpPr>
        <p:spPr>
          <a:xfrm>
            <a:off x="8872616" y="3617174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80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0" name="圆角矩形 212">
            <a:extLst>
              <a:ext uri="{FF2B5EF4-FFF2-40B4-BE49-F238E27FC236}">
                <a16:creationId xmlns:a16="http://schemas.microsoft.com/office/drawing/2014/main" id="{1533CDE9-6268-58F0-7479-7E0E76243521}"/>
              </a:ext>
            </a:extLst>
          </p:cNvPr>
          <p:cNvSpPr/>
          <p:nvPr/>
        </p:nvSpPr>
        <p:spPr>
          <a:xfrm>
            <a:off x="8872616" y="3769515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80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1" name="圆角矩形 213">
            <a:extLst>
              <a:ext uri="{FF2B5EF4-FFF2-40B4-BE49-F238E27FC236}">
                <a16:creationId xmlns:a16="http://schemas.microsoft.com/office/drawing/2014/main" id="{B43D2D1D-1FFB-FD34-46CA-13987F121183}"/>
              </a:ext>
            </a:extLst>
          </p:cNvPr>
          <p:cNvSpPr/>
          <p:nvPr/>
        </p:nvSpPr>
        <p:spPr>
          <a:xfrm>
            <a:off x="8872616" y="3921855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80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2" name="圆角矩形 214">
            <a:extLst>
              <a:ext uri="{FF2B5EF4-FFF2-40B4-BE49-F238E27FC236}">
                <a16:creationId xmlns:a16="http://schemas.microsoft.com/office/drawing/2014/main" id="{AF777771-921A-5F28-916B-E0F8BA4A410A}"/>
              </a:ext>
            </a:extLst>
          </p:cNvPr>
          <p:cNvSpPr/>
          <p:nvPr/>
        </p:nvSpPr>
        <p:spPr>
          <a:xfrm>
            <a:off x="8863338" y="4207097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80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3" name="圆角矩形 215">
            <a:extLst>
              <a:ext uri="{FF2B5EF4-FFF2-40B4-BE49-F238E27FC236}">
                <a16:creationId xmlns:a16="http://schemas.microsoft.com/office/drawing/2014/main" id="{A72C74D2-6EA9-E9FB-4071-13005CE4F6B2}"/>
              </a:ext>
            </a:extLst>
          </p:cNvPr>
          <p:cNvSpPr/>
          <p:nvPr/>
        </p:nvSpPr>
        <p:spPr>
          <a:xfrm>
            <a:off x="8863338" y="4366509"/>
            <a:ext cx="103901" cy="71202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80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4" name="圆角矩形 216">
            <a:extLst>
              <a:ext uri="{FF2B5EF4-FFF2-40B4-BE49-F238E27FC236}">
                <a16:creationId xmlns:a16="http://schemas.microsoft.com/office/drawing/2014/main" id="{0C6169E3-3CE2-846C-BF62-66570788CE95}"/>
              </a:ext>
            </a:extLst>
          </p:cNvPr>
          <p:cNvSpPr/>
          <p:nvPr/>
        </p:nvSpPr>
        <p:spPr>
          <a:xfrm>
            <a:off x="8863338" y="4065870"/>
            <a:ext cx="114254" cy="51414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800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05" name="直接连接符 217">
            <a:extLst>
              <a:ext uri="{FF2B5EF4-FFF2-40B4-BE49-F238E27FC236}">
                <a16:creationId xmlns:a16="http://schemas.microsoft.com/office/drawing/2014/main" id="{C8FBEE4F-A9E8-D58F-B7F2-F6CE1DD40769}"/>
              </a:ext>
            </a:extLst>
          </p:cNvPr>
          <p:cNvCxnSpPr>
            <a:cxnSpLocks/>
          </p:cNvCxnSpPr>
          <p:nvPr/>
        </p:nvCxnSpPr>
        <p:spPr>
          <a:xfrm>
            <a:off x="8986870" y="3173573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6" name="直接连接符 218">
            <a:extLst>
              <a:ext uri="{FF2B5EF4-FFF2-40B4-BE49-F238E27FC236}">
                <a16:creationId xmlns:a16="http://schemas.microsoft.com/office/drawing/2014/main" id="{6C935FC5-A6DE-6FE9-4B01-E2384306A384}"/>
              </a:ext>
            </a:extLst>
          </p:cNvPr>
          <p:cNvCxnSpPr>
            <a:cxnSpLocks/>
          </p:cNvCxnSpPr>
          <p:nvPr/>
        </p:nvCxnSpPr>
        <p:spPr>
          <a:xfrm>
            <a:off x="8998530" y="3332487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直接连接符 219">
            <a:extLst>
              <a:ext uri="{FF2B5EF4-FFF2-40B4-BE49-F238E27FC236}">
                <a16:creationId xmlns:a16="http://schemas.microsoft.com/office/drawing/2014/main" id="{480F13D9-DC32-E486-3E96-898EE93AFEEE}"/>
              </a:ext>
            </a:extLst>
          </p:cNvPr>
          <p:cNvCxnSpPr>
            <a:cxnSpLocks/>
          </p:cNvCxnSpPr>
          <p:nvPr/>
        </p:nvCxnSpPr>
        <p:spPr>
          <a:xfrm>
            <a:off x="8998530" y="3484827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直接连接符 220">
            <a:extLst>
              <a:ext uri="{FF2B5EF4-FFF2-40B4-BE49-F238E27FC236}">
                <a16:creationId xmlns:a16="http://schemas.microsoft.com/office/drawing/2014/main" id="{4CBF08DA-A54E-00FF-70C8-1AC7B982BCB8}"/>
              </a:ext>
            </a:extLst>
          </p:cNvPr>
          <p:cNvCxnSpPr>
            <a:cxnSpLocks/>
          </p:cNvCxnSpPr>
          <p:nvPr/>
        </p:nvCxnSpPr>
        <p:spPr>
          <a:xfrm>
            <a:off x="8986870" y="3649404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9" name="直接连接符 221">
            <a:extLst>
              <a:ext uri="{FF2B5EF4-FFF2-40B4-BE49-F238E27FC236}">
                <a16:creationId xmlns:a16="http://schemas.microsoft.com/office/drawing/2014/main" id="{EE1D1B81-1A4B-22F7-ACDE-418038D8EC89}"/>
              </a:ext>
            </a:extLst>
          </p:cNvPr>
          <p:cNvCxnSpPr>
            <a:cxnSpLocks/>
          </p:cNvCxnSpPr>
          <p:nvPr/>
        </p:nvCxnSpPr>
        <p:spPr>
          <a:xfrm>
            <a:off x="8998530" y="3788132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0" name="直接连接符 222">
            <a:extLst>
              <a:ext uri="{FF2B5EF4-FFF2-40B4-BE49-F238E27FC236}">
                <a16:creationId xmlns:a16="http://schemas.microsoft.com/office/drawing/2014/main" id="{9F6D51AF-D244-B989-7DDB-FF9EBDB70C8D}"/>
              </a:ext>
            </a:extLst>
          </p:cNvPr>
          <p:cNvCxnSpPr>
            <a:cxnSpLocks/>
          </p:cNvCxnSpPr>
          <p:nvPr/>
        </p:nvCxnSpPr>
        <p:spPr>
          <a:xfrm>
            <a:off x="9007159" y="3951332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1" name="直接连接符 223">
            <a:extLst>
              <a:ext uri="{FF2B5EF4-FFF2-40B4-BE49-F238E27FC236}">
                <a16:creationId xmlns:a16="http://schemas.microsoft.com/office/drawing/2014/main" id="{27DB9DC0-E92B-47E9-2BC3-9D2D61E36EAF}"/>
              </a:ext>
            </a:extLst>
          </p:cNvPr>
          <p:cNvCxnSpPr>
            <a:cxnSpLocks/>
          </p:cNvCxnSpPr>
          <p:nvPr/>
        </p:nvCxnSpPr>
        <p:spPr>
          <a:xfrm>
            <a:off x="8986870" y="4089414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2" name="直接连接符 224">
            <a:extLst>
              <a:ext uri="{FF2B5EF4-FFF2-40B4-BE49-F238E27FC236}">
                <a16:creationId xmlns:a16="http://schemas.microsoft.com/office/drawing/2014/main" id="{9B8848A0-39A5-800C-3932-347C50A38848}"/>
              </a:ext>
            </a:extLst>
          </p:cNvPr>
          <p:cNvCxnSpPr>
            <a:cxnSpLocks/>
          </p:cNvCxnSpPr>
          <p:nvPr/>
        </p:nvCxnSpPr>
        <p:spPr>
          <a:xfrm>
            <a:off x="8998530" y="4241754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3" name="直接连接符 225">
            <a:extLst>
              <a:ext uri="{FF2B5EF4-FFF2-40B4-BE49-F238E27FC236}">
                <a16:creationId xmlns:a16="http://schemas.microsoft.com/office/drawing/2014/main" id="{9751891C-B36E-8D84-143C-BE29B18EF28D}"/>
              </a:ext>
            </a:extLst>
          </p:cNvPr>
          <p:cNvCxnSpPr>
            <a:cxnSpLocks/>
          </p:cNvCxnSpPr>
          <p:nvPr/>
        </p:nvCxnSpPr>
        <p:spPr>
          <a:xfrm>
            <a:off x="8967239" y="4382192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aphicFrame>
        <p:nvGraphicFramePr>
          <p:cNvPr id="114" name="表格 226">
            <a:extLst>
              <a:ext uri="{FF2B5EF4-FFF2-40B4-BE49-F238E27FC236}">
                <a16:creationId xmlns:a16="http://schemas.microsoft.com/office/drawing/2014/main" id="{BAF4AAEC-718C-3EB1-2E01-C1871D73E856}"/>
              </a:ext>
            </a:extLst>
          </p:cNvPr>
          <p:cNvGraphicFramePr>
            <a:graphicFrameLocks noGrp="1"/>
          </p:cNvGraphicFramePr>
          <p:nvPr/>
        </p:nvGraphicFramePr>
        <p:xfrm>
          <a:off x="9314210" y="3053112"/>
          <a:ext cx="259381" cy="1355832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59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11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12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13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14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15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16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17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18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15" name="直接连接符 227">
            <a:extLst>
              <a:ext uri="{FF2B5EF4-FFF2-40B4-BE49-F238E27FC236}">
                <a16:creationId xmlns:a16="http://schemas.microsoft.com/office/drawing/2014/main" id="{14489DC9-A2B4-B8F3-C768-16261D13D49C}"/>
              </a:ext>
            </a:extLst>
          </p:cNvPr>
          <p:cNvCxnSpPr>
            <a:cxnSpLocks/>
          </p:cNvCxnSpPr>
          <p:nvPr/>
        </p:nvCxnSpPr>
        <p:spPr>
          <a:xfrm>
            <a:off x="8432098" y="3173573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6" name="直接连接符 234">
            <a:extLst>
              <a:ext uri="{FF2B5EF4-FFF2-40B4-BE49-F238E27FC236}">
                <a16:creationId xmlns:a16="http://schemas.microsoft.com/office/drawing/2014/main" id="{7F9539AF-8626-EFE9-60ED-936E286E13BB}"/>
              </a:ext>
            </a:extLst>
          </p:cNvPr>
          <p:cNvCxnSpPr>
            <a:cxnSpLocks/>
          </p:cNvCxnSpPr>
          <p:nvPr/>
        </p:nvCxnSpPr>
        <p:spPr>
          <a:xfrm>
            <a:off x="8443759" y="3332487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7" name="直接连接符 235">
            <a:extLst>
              <a:ext uri="{FF2B5EF4-FFF2-40B4-BE49-F238E27FC236}">
                <a16:creationId xmlns:a16="http://schemas.microsoft.com/office/drawing/2014/main" id="{C9B0A76E-45B9-2C5C-BCF8-422705CE23B9}"/>
              </a:ext>
            </a:extLst>
          </p:cNvPr>
          <p:cNvCxnSpPr>
            <a:cxnSpLocks/>
          </p:cNvCxnSpPr>
          <p:nvPr/>
        </p:nvCxnSpPr>
        <p:spPr>
          <a:xfrm>
            <a:off x="8443759" y="3484827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8" name="直接连接符 236">
            <a:extLst>
              <a:ext uri="{FF2B5EF4-FFF2-40B4-BE49-F238E27FC236}">
                <a16:creationId xmlns:a16="http://schemas.microsoft.com/office/drawing/2014/main" id="{01D75AF4-345F-6BB6-41F6-3306D07023F9}"/>
              </a:ext>
            </a:extLst>
          </p:cNvPr>
          <p:cNvCxnSpPr>
            <a:cxnSpLocks/>
          </p:cNvCxnSpPr>
          <p:nvPr/>
        </p:nvCxnSpPr>
        <p:spPr>
          <a:xfrm>
            <a:off x="8432098" y="3649404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9" name="直接连接符 237">
            <a:extLst>
              <a:ext uri="{FF2B5EF4-FFF2-40B4-BE49-F238E27FC236}">
                <a16:creationId xmlns:a16="http://schemas.microsoft.com/office/drawing/2014/main" id="{95B156F9-553F-67C0-3C8E-4D7AD5328E15}"/>
              </a:ext>
            </a:extLst>
          </p:cNvPr>
          <p:cNvCxnSpPr>
            <a:cxnSpLocks/>
          </p:cNvCxnSpPr>
          <p:nvPr/>
        </p:nvCxnSpPr>
        <p:spPr>
          <a:xfrm>
            <a:off x="8443759" y="3788132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0" name="直接连接符 244">
            <a:extLst>
              <a:ext uri="{FF2B5EF4-FFF2-40B4-BE49-F238E27FC236}">
                <a16:creationId xmlns:a16="http://schemas.microsoft.com/office/drawing/2014/main" id="{9EE66CA8-3DD6-DE7E-EC65-A275226AA08B}"/>
              </a:ext>
            </a:extLst>
          </p:cNvPr>
          <p:cNvCxnSpPr>
            <a:cxnSpLocks/>
          </p:cNvCxnSpPr>
          <p:nvPr/>
        </p:nvCxnSpPr>
        <p:spPr>
          <a:xfrm>
            <a:off x="8452388" y="3951332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1" name="直接连接符 245">
            <a:extLst>
              <a:ext uri="{FF2B5EF4-FFF2-40B4-BE49-F238E27FC236}">
                <a16:creationId xmlns:a16="http://schemas.microsoft.com/office/drawing/2014/main" id="{688E890F-5057-785B-8856-3A7C4F3200FB}"/>
              </a:ext>
            </a:extLst>
          </p:cNvPr>
          <p:cNvCxnSpPr>
            <a:cxnSpLocks/>
          </p:cNvCxnSpPr>
          <p:nvPr/>
        </p:nvCxnSpPr>
        <p:spPr>
          <a:xfrm>
            <a:off x="8432098" y="4089414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2" name="直接连接符 246">
            <a:extLst>
              <a:ext uri="{FF2B5EF4-FFF2-40B4-BE49-F238E27FC236}">
                <a16:creationId xmlns:a16="http://schemas.microsoft.com/office/drawing/2014/main" id="{9CAE6CD7-7E5D-E8E3-1034-5F8EEB1D6A00}"/>
              </a:ext>
            </a:extLst>
          </p:cNvPr>
          <p:cNvCxnSpPr>
            <a:cxnSpLocks/>
          </p:cNvCxnSpPr>
          <p:nvPr/>
        </p:nvCxnSpPr>
        <p:spPr>
          <a:xfrm>
            <a:off x="8443759" y="4241754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3" name="直接连接符 247">
            <a:extLst>
              <a:ext uri="{FF2B5EF4-FFF2-40B4-BE49-F238E27FC236}">
                <a16:creationId xmlns:a16="http://schemas.microsoft.com/office/drawing/2014/main" id="{6C8DF3C3-665D-E4AF-8621-27F6B6DA3ED2}"/>
              </a:ext>
            </a:extLst>
          </p:cNvPr>
          <p:cNvCxnSpPr>
            <a:cxnSpLocks/>
          </p:cNvCxnSpPr>
          <p:nvPr/>
        </p:nvCxnSpPr>
        <p:spPr>
          <a:xfrm>
            <a:off x="8412468" y="4382192"/>
            <a:ext cx="40880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aphicFrame>
        <p:nvGraphicFramePr>
          <p:cNvPr id="124" name="表格 250">
            <a:extLst>
              <a:ext uri="{FF2B5EF4-FFF2-40B4-BE49-F238E27FC236}">
                <a16:creationId xmlns:a16="http://schemas.microsoft.com/office/drawing/2014/main" id="{6338C69B-4D02-0E5B-825E-91980A466DCA}"/>
              </a:ext>
            </a:extLst>
          </p:cNvPr>
          <p:cNvGraphicFramePr>
            <a:graphicFrameLocks noGrp="1"/>
          </p:cNvGraphicFramePr>
          <p:nvPr/>
        </p:nvGraphicFramePr>
        <p:xfrm>
          <a:off x="8170304" y="3076745"/>
          <a:ext cx="259381" cy="1355832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59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1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2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3</a:t>
                      </a:r>
                      <a:endParaRPr lang="en-US" altLang="zh-CN" sz="10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4</a:t>
                      </a:r>
                      <a:endParaRPr lang="en-US" altLang="zh-CN" sz="10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5</a:t>
                      </a:r>
                      <a:endParaRPr lang="en-US" altLang="zh-CN" sz="10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6</a:t>
                      </a:r>
                      <a:endParaRPr lang="en-US" altLang="zh-CN" sz="1000" b="0" i="0" u="none" strike="noStrike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7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47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8</a:t>
                      </a:r>
                      <a:endParaRPr lang="en-US" altLang="zh-CN" sz="1000" b="0" i="0" u="none" strike="noStrike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6" name="圆角矩形 2">
            <a:extLst>
              <a:ext uri="{FF2B5EF4-FFF2-40B4-BE49-F238E27FC236}">
                <a16:creationId xmlns:a16="http://schemas.microsoft.com/office/drawing/2014/main" id="{456D330F-0623-79EA-D04B-D871C341F2F5}"/>
              </a:ext>
            </a:extLst>
          </p:cNvPr>
          <p:cNvSpPr/>
          <p:nvPr/>
        </p:nvSpPr>
        <p:spPr>
          <a:xfrm>
            <a:off x="8267760" y="2983696"/>
            <a:ext cx="1332803" cy="1481413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lang="zh-CN" altLang="en-US" sz="120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cxnSp>
        <p:nvCxnSpPr>
          <p:cNvPr id="127" name="直接箭头连接符 207">
            <a:extLst>
              <a:ext uri="{FF2B5EF4-FFF2-40B4-BE49-F238E27FC236}">
                <a16:creationId xmlns:a16="http://schemas.microsoft.com/office/drawing/2014/main" id="{9168C71F-35A5-8197-53F2-433D3AD62501}"/>
              </a:ext>
            </a:extLst>
          </p:cNvPr>
          <p:cNvCxnSpPr>
            <a:cxnSpLocks/>
          </p:cNvCxnSpPr>
          <p:nvPr/>
        </p:nvCxnSpPr>
        <p:spPr>
          <a:xfrm flipH="1">
            <a:off x="9338904" y="2689900"/>
            <a:ext cx="291734" cy="285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3">
            <a:extLst>
              <a:ext uri="{FF2B5EF4-FFF2-40B4-BE49-F238E27FC236}">
                <a16:creationId xmlns:a16="http://schemas.microsoft.com/office/drawing/2014/main" id="{1F11CCA9-2D89-2AD1-76BB-872D32AE94E3}"/>
              </a:ext>
            </a:extLst>
          </p:cNvPr>
          <p:cNvSpPr txBox="1"/>
          <p:nvPr/>
        </p:nvSpPr>
        <p:spPr>
          <a:xfrm>
            <a:off x="11169541" y="1850093"/>
            <a:ext cx="722905" cy="5770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914112"/>
            <a:r>
              <a:rPr lang="en-US" altLang="zh-CN" sz="105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 or</a:t>
            </a:r>
          </a:p>
          <a:p>
            <a:pPr defTabSz="914112"/>
            <a:r>
              <a:rPr lang="en-US" altLang="zh-CN" sz="105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Passive Device</a:t>
            </a:r>
            <a:endParaRPr lang="zh-CN" altLang="en-US" sz="105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3" name="文本框 3">
            <a:extLst>
              <a:ext uri="{FF2B5EF4-FFF2-40B4-BE49-F238E27FC236}">
                <a16:creationId xmlns:a16="http://schemas.microsoft.com/office/drawing/2014/main" id="{25403942-BF24-AC46-E076-8ADD308A4494}"/>
              </a:ext>
            </a:extLst>
          </p:cNvPr>
          <p:cNvSpPr txBox="1"/>
          <p:nvPr/>
        </p:nvSpPr>
        <p:spPr>
          <a:xfrm>
            <a:off x="8420226" y="2929630"/>
            <a:ext cx="1494937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914112"/>
            <a:r>
              <a:rPr lang="en-US" altLang="zh-CN" sz="8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Passive Device</a:t>
            </a:r>
            <a:endParaRPr lang="zh-CN" altLang="en-US" sz="8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4" name="直接箭头连接符 166">
            <a:extLst>
              <a:ext uri="{FF2B5EF4-FFF2-40B4-BE49-F238E27FC236}">
                <a16:creationId xmlns:a16="http://schemas.microsoft.com/office/drawing/2014/main" id="{347DE149-45C0-FAA6-27A5-9C8E0AF0EDB9}"/>
              </a:ext>
            </a:extLst>
          </p:cNvPr>
          <p:cNvCxnSpPr>
            <a:cxnSpLocks/>
          </p:cNvCxnSpPr>
          <p:nvPr/>
        </p:nvCxnSpPr>
        <p:spPr>
          <a:xfrm flipH="1">
            <a:off x="8085857" y="1738564"/>
            <a:ext cx="229994" cy="811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251">
            <a:extLst>
              <a:ext uri="{FF2B5EF4-FFF2-40B4-BE49-F238E27FC236}">
                <a16:creationId xmlns:a16="http://schemas.microsoft.com/office/drawing/2014/main" id="{4DC31B4D-D5A3-8FF7-C5C6-EA7E909EF330}"/>
              </a:ext>
            </a:extLst>
          </p:cNvPr>
          <p:cNvSpPr txBox="1"/>
          <p:nvPr/>
        </p:nvSpPr>
        <p:spPr>
          <a:xfrm>
            <a:off x="7868783" y="1510408"/>
            <a:ext cx="980204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914112"/>
            <a:r>
              <a:rPr lang="en-US" altLang="zh-CN" sz="12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Fiber core</a:t>
            </a:r>
            <a:endParaRPr lang="zh-CN" altLang="en-US" sz="12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1" name="Footer Placeholder 3">
            <a:extLst>
              <a:ext uri="{FF2B5EF4-FFF2-40B4-BE49-F238E27FC236}">
                <a16:creationId xmlns:a16="http://schemas.microsoft.com/office/drawing/2014/main" id="{2E409804-6940-2FED-ED00-1DADFAC7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IVY WG @ IETF 121, Dublin</a:t>
            </a:r>
          </a:p>
        </p:txBody>
      </p:sp>
      <p:sp>
        <p:nvSpPr>
          <p:cNvPr id="162" name="Date Placeholder 1">
            <a:extLst>
              <a:ext uri="{FF2B5EF4-FFF2-40B4-BE49-F238E27FC236}">
                <a16:creationId xmlns:a16="http://schemas.microsoft.com/office/drawing/2014/main" id="{87DA0088-8DE2-CC27-D83E-1528D574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11/07/2024</a:t>
            </a:r>
          </a:p>
        </p:txBody>
      </p:sp>
    </p:spTree>
    <p:extLst>
      <p:ext uri="{BB962C8B-B14F-4D97-AF65-F5344CB8AC3E}">
        <p14:creationId xmlns:p14="http://schemas.microsoft.com/office/powerpoint/2010/main" val="968222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1980</TotalTime>
  <Words>1351</Words>
  <Application>Microsoft Office PowerPoint</Application>
  <PresentationFormat>Widescreen</PresentationFormat>
  <Paragraphs>450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-apple-system</vt:lpstr>
      <vt:lpstr>Microsoft YaHei</vt:lpstr>
      <vt:lpstr>宋体</vt:lpstr>
      <vt:lpstr>Aptos</vt:lpstr>
      <vt:lpstr>Aptos Display</vt:lpstr>
      <vt:lpstr>Arial</vt:lpstr>
      <vt:lpstr>Calibri</vt:lpstr>
      <vt:lpstr>Calibri Light</vt:lpstr>
      <vt:lpstr>Wingdings</vt:lpstr>
      <vt:lpstr>Office Theme</vt:lpstr>
      <vt:lpstr>1_Office Theme</vt:lpstr>
      <vt:lpstr>A Status Update on YANG Data Model for Passive Network Inventory</vt:lpstr>
      <vt:lpstr>Summary of Updates Since IETF-121</vt:lpstr>
      <vt:lpstr>Type of Passive Infrastructure</vt:lpstr>
      <vt:lpstr>Passive Infrastructure - Access</vt:lpstr>
      <vt:lpstr>Passive Infrastructure – OTN/DWDM</vt:lpstr>
      <vt:lpstr>Passive Infrastructure – Microwave (To be further discussed)</vt:lpstr>
      <vt:lpstr>Clarification on Terminologies</vt:lpstr>
      <vt:lpstr>Modeling Methodology: Topology or Inventory</vt:lpstr>
      <vt:lpstr>A Possible Approach</vt:lpstr>
      <vt:lpstr>Passive Device vs. Network Element</vt:lpstr>
      <vt:lpstr>Other Issues</vt:lpstr>
      <vt:lpstr>Next Steps</vt:lpstr>
      <vt:lpstr>PowerPoint Presentation</vt:lpstr>
      <vt:lpstr>PowerPoint Presentation</vt:lpstr>
      <vt:lpstr>Cable &amp; Cable Segments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IETF Network Slice Topology YANG Data Model</dc:title>
  <dc:creator>Eric Guo</dc:creator>
  <cp:lastModifiedBy>Aihua Guo</cp:lastModifiedBy>
  <cp:revision>14</cp:revision>
  <dcterms:created xsi:type="dcterms:W3CDTF">2024-03-17T21:15:06Z</dcterms:created>
  <dcterms:modified xsi:type="dcterms:W3CDTF">2025-03-05T16:43:26Z</dcterms:modified>
</cp:coreProperties>
</file>